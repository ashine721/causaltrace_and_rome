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32"/>
  </p:notesMasterIdLst>
  <p:sldIdLst>
    <p:sldId id="256" r:id="rId5"/>
    <p:sldId id="291" r:id="rId6"/>
    <p:sldId id="260" r:id="rId7"/>
    <p:sldId id="258" r:id="rId8"/>
    <p:sldId id="272" r:id="rId9"/>
    <p:sldId id="261" r:id="rId10"/>
    <p:sldId id="265" r:id="rId11"/>
    <p:sldId id="280" r:id="rId12"/>
    <p:sldId id="283" r:id="rId13"/>
    <p:sldId id="263" r:id="rId14"/>
    <p:sldId id="264" r:id="rId15"/>
    <p:sldId id="275" r:id="rId16"/>
    <p:sldId id="286" r:id="rId17"/>
    <p:sldId id="276" r:id="rId18"/>
    <p:sldId id="288" r:id="rId19"/>
    <p:sldId id="293" r:id="rId20"/>
    <p:sldId id="285" r:id="rId21"/>
    <p:sldId id="277" r:id="rId22"/>
    <p:sldId id="268" r:id="rId23"/>
    <p:sldId id="271" r:id="rId24"/>
    <p:sldId id="270" r:id="rId25"/>
    <p:sldId id="284" r:id="rId26"/>
    <p:sldId id="289" r:id="rId27"/>
    <p:sldId id="279" r:id="rId28"/>
    <p:sldId id="290" r:id="rId29"/>
    <p:sldId id="259" r:id="rId30"/>
    <p:sldId id="292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4BF7B1-8278-48B1-A50C-66A3DE0360B3}" v="137" dt="2025-12-12T18:34:15.3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05" autoAdjust="0"/>
    <p:restoredTop sz="94992" autoAdjust="0"/>
  </p:normalViewPr>
  <p:slideViewPr>
    <p:cSldViewPr snapToGrid="0">
      <p:cViewPr varScale="1">
        <p:scale>
          <a:sx n="67" d="100"/>
          <a:sy n="67" d="100"/>
        </p:scale>
        <p:origin x="90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F2EE9DD-1B1F-44EA-AFF3-3AA653B1AAE7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3ACD10B-F7B1-45A6-B7EE-F41704DBA4A4}">
      <dgm:prSet/>
      <dgm:spPr/>
      <dgm:t>
        <a:bodyPr/>
        <a:lstStyle/>
        <a:p>
          <a:pPr>
            <a:lnSpc>
              <a:spcPct val="100000"/>
            </a:lnSpc>
          </a:pPr>
          <a:r>
            <a:rPr lang="zh-TW" dirty="0"/>
            <a:t>為了能夠修改</a:t>
          </a:r>
          <a:r>
            <a:rPr lang="en-US" dirty="0"/>
            <a:t>LLM</a:t>
          </a:r>
          <a:r>
            <a:rPr lang="zh-TW" dirty="0"/>
            <a:t>中的「事實」但又不希望每次修改都要重新訓練。</a:t>
          </a:r>
          <a:endParaRPr lang="en-US" dirty="0"/>
        </a:p>
      </dgm:t>
    </dgm:pt>
    <dgm:pt modelId="{1E4D076F-5A64-4717-AA7B-D227F14FCF92}" type="parTrans" cxnId="{769BBEAA-C854-4139-9BE1-C17BE6DF8BA5}">
      <dgm:prSet/>
      <dgm:spPr/>
      <dgm:t>
        <a:bodyPr/>
        <a:lstStyle/>
        <a:p>
          <a:endParaRPr lang="en-US"/>
        </a:p>
      </dgm:t>
    </dgm:pt>
    <dgm:pt modelId="{F8F8E20F-1FB2-4E41-8C06-60AD3710A7D6}" type="sibTrans" cxnId="{769BBEAA-C854-4139-9BE1-C17BE6DF8BA5}">
      <dgm:prSet/>
      <dgm:spPr/>
      <dgm:t>
        <a:bodyPr/>
        <a:lstStyle/>
        <a:p>
          <a:endParaRPr lang="en-US"/>
        </a:p>
      </dgm:t>
    </dgm:pt>
    <dgm:pt modelId="{B6B16048-CCB3-4491-A91F-1E4F17C5A20C}">
      <dgm:prSet/>
      <dgm:spPr/>
      <dgm:t>
        <a:bodyPr/>
        <a:lstStyle/>
        <a:p>
          <a:pPr>
            <a:lnSpc>
              <a:spcPct val="100000"/>
            </a:lnSpc>
          </a:pPr>
          <a:r>
            <a:rPr lang="zh-TW"/>
            <a:t>例如：世界首富若原為比爾蓋茲變成馬斯克，這樣模型就需要改變他所儲存的事實。</a:t>
          </a:r>
          <a:endParaRPr lang="en-US"/>
        </a:p>
      </dgm:t>
    </dgm:pt>
    <dgm:pt modelId="{D6E4E297-5D8A-4AA7-8A91-4BDD35CC909B}" type="parTrans" cxnId="{7939BD7E-F274-436B-A1D8-B3B1EEDDFADA}">
      <dgm:prSet/>
      <dgm:spPr/>
      <dgm:t>
        <a:bodyPr/>
        <a:lstStyle/>
        <a:p>
          <a:endParaRPr lang="en-US"/>
        </a:p>
      </dgm:t>
    </dgm:pt>
    <dgm:pt modelId="{20C7B867-FDE9-4223-AA2D-9654500C4628}" type="sibTrans" cxnId="{7939BD7E-F274-436B-A1D8-B3B1EEDDFADA}">
      <dgm:prSet/>
      <dgm:spPr/>
      <dgm:t>
        <a:bodyPr/>
        <a:lstStyle/>
        <a:p>
          <a:endParaRPr lang="en-US"/>
        </a:p>
      </dgm:t>
    </dgm:pt>
    <dgm:pt modelId="{19163DEA-731F-40AA-8DE9-850ED9373FA0}" type="pres">
      <dgm:prSet presAssocID="{DF2EE9DD-1B1F-44EA-AFF3-3AA653B1AAE7}" presName="root" presStyleCnt="0">
        <dgm:presLayoutVars>
          <dgm:dir/>
          <dgm:resizeHandles val="exact"/>
        </dgm:presLayoutVars>
      </dgm:prSet>
      <dgm:spPr/>
    </dgm:pt>
    <dgm:pt modelId="{55B78663-7687-4CF0-942B-FE58884096D0}" type="pres">
      <dgm:prSet presAssocID="{83ACD10B-F7B1-45A6-B7EE-F41704DBA4A4}" presName="compNode" presStyleCnt="0"/>
      <dgm:spPr/>
    </dgm:pt>
    <dgm:pt modelId="{2CE961BA-F366-4D7E-A1A3-986821EB69EF}" type="pres">
      <dgm:prSet presAssocID="{83ACD10B-F7B1-45A6-B7EE-F41704DBA4A4}" presName="bgRect" presStyleLbl="bgShp" presStyleIdx="0" presStyleCnt="2"/>
      <dgm:spPr/>
    </dgm:pt>
    <dgm:pt modelId="{FA8768D3-75BB-49A3-A025-015D8E8F7ACD}" type="pres">
      <dgm:prSet presAssocID="{83ACD10B-F7B1-45A6-B7EE-F41704DBA4A4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ustomer Review"/>
        </a:ext>
      </dgm:extLst>
    </dgm:pt>
    <dgm:pt modelId="{0795DB0E-28A9-4930-BC40-CB206380AA23}" type="pres">
      <dgm:prSet presAssocID="{83ACD10B-F7B1-45A6-B7EE-F41704DBA4A4}" presName="spaceRect" presStyleCnt="0"/>
      <dgm:spPr/>
    </dgm:pt>
    <dgm:pt modelId="{9F02E04B-AC11-45D3-9D4C-79C76F5D654D}" type="pres">
      <dgm:prSet presAssocID="{83ACD10B-F7B1-45A6-B7EE-F41704DBA4A4}" presName="parTx" presStyleLbl="revTx" presStyleIdx="0" presStyleCnt="2">
        <dgm:presLayoutVars>
          <dgm:chMax val="0"/>
          <dgm:chPref val="0"/>
        </dgm:presLayoutVars>
      </dgm:prSet>
      <dgm:spPr/>
    </dgm:pt>
    <dgm:pt modelId="{AC3474DB-512D-450E-BFD1-12BC236969A0}" type="pres">
      <dgm:prSet presAssocID="{F8F8E20F-1FB2-4E41-8C06-60AD3710A7D6}" presName="sibTrans" presStyleCnt="0"/>
      <dgm:spPr/>
    </dgm:pt>
    <dgm:pt modelId="{85715088-D0D8-4388-8041-C43B3CF7F8C7}" type="pres">
      <dgm:prSet presAssocID="{B6B16048-CCB3-4491-A91F-1E4F17C5A20C}" presName="compNode" presStyleCnt="0"/>
      <dgm:spPr/>
    </dgm:pt>
    <dgm:pt modelId="{92DC9E5E-1EE0-4DB2-9E0E-2921019D31CC}" type="pres">
      <dgm:prSet presAssocID="{B6B16048-CCB3-4491-A91F-1E4F17C5A20C}" presName="bgRect" presStyleLbl="bgShp" presStyleIdx="1" presStyleCnt="2"/>
      <dgm:spPr/>
    </dgm:pt>
    <dgm:pt modelId="{C40B88D3-2411-4825-B4BC-3BD5D9306220}" type="pres">
      <dgm:prSet presAssocID="{B6B16048-CCB3-4491-A91F-1E4F17C5A20C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字幕"/>
        </a:ext>
      </dgm:extLst>
    </dgm:pt>
    <dgm:pt modelId="{7F9E0523-6ABD-490A-8D89-93E3D7FEB2F1}" type="pres">
      <dgm:prSet presAssocID="{B6B16048-CCB3-4491-A91F-1E4F17C5A20C}" presName="spaceRect" presStyleCnt="0"/>
      <dgm:spPr/>
    </dgm:pt>
    <dgm:pt modelId="{B6A1990E-4D13-4610-9144-3D65258AFC8A}" type="pres">
      <dgm:prSet presAssocID="{B6B16048-CCB3-4491-A91F-1E4F17C5A20C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99F2522C-16F6-4F5B-88C0-7728CBA6353C}" type="presOf" srcId="{83ACD10B-F7B1-45A6-B7EE-F41704DBA4A4}" destId="{9F02E04B-AC11-45D3-9D4C-79C76F5D654D}" srcOrd="0" destOrd="0" presId="urn:microsoft.com/office/officeart/2018/2/layout/IconVerticalSolidList"/>
    <dgm:cxn modelId="{2BE61944-766C-4775-8E84-92A1D5484635}" type="presOf" srcId="{B6B16048-CCB3-4491-A91F-1E4F17C5A20C}" destId="{B6A1990E-4D13-4610-9144-3D65258AFC8A}" srcOrd="0" destOrd="0" presId="urn:microsoft.com/office/officeart/2018/2/layout/IconVerticalSolidList"/>
    <dgm:cxn modelId="{7939BD7E-F274-436B-A1D8-B3B1EEDDFADA}" srcId="{DF2EE9DD-1B1F-44EA-AFF3-3AA653B1AAE7}" destId="{B6B16048-CCB3-4491-A91F-1E4F17C5A20C}" srcOrd="1" destOrd="0" parTransId="{D6E4E297-5D8A-4AA7-8A91-4BDD35CC909B}" sibTransId="{20C7B867-FDE9-4223-AA2D-9654500C4628}"/>
    <dgm:cxn modelId="{79456E87-B755-4F8A-897C-C94224C99017}" type="presOf" srcId="{DF2EE9DD-1B1F-44EA-AFF3-3AA653B1AAE7}" destId="{19163DEA-731F-40AA-8DE9-850ED9373FA0}" srcOrd="0" destOrd="0" presId="urn:microsoft.com/office/officeart/2018/2/layout/IconVerticalSolidList"/>
    <dgm:cxn modelId="{769BBEAA-C854-4139-9BE1-C17BE6DF8BA5}" srcId="{DF2EE9DD-1B1F-44EA-AFF3-3AA653B1AAE7}" destId="{83ACD10B-F7B1-45A6-B7EE-F41704DBA4A4}" srcOrd="0" destOrd="0" parTransId="{1E4D076F-5A64-4717-AA7B-D227F14FCF92}" sibTransId="{F8F8E20F-1FB2-4E41-8C06-60AD3710A7D6}"/>
    <dgm:cxn modelId="{4745D45D-C7DA-40AD-B534-B855F8D2A5CF}" type="presParOf" srcId="{19163DEA-731F-40AA-8DE9-850ED9373FA0}" destId="{55B78663-7687-4CF0-942B-FE58884096D0}" srcOrd="0" destOrd="0" presId="urn:microsoft.com/office/officeart/2018/2/layout/IconVerticalSolidList"/>
    <dgm:cxn modelId="{788B4399-0612-4A6C-AAEC-5DC5EA887D77}" type="presParOf" srcId="{55B78663-7687-4CF0-942B-FE58884096D0}" destId="{2CE961BA-F366-4D7E-A1A3-986821EB69EF}" srcOrd="0" destOrd="0" presId="urn:microsoft.com/office/officeart/2018/2/layout/IconVerticalSolidList"/>
    <dgm:cxn modelId="{8FB310A1-4D0A-4A97-BE3E-B131471AA74E}" type="presParOf" srcId="{55B78663-7687-4CF0-942B-FE58884096D0}" destId="{FA8768D3-75BB-49A3-A025-015D8E8F7ACD}" srcOrd="1" destOrd="0" presId="urn:microsoft.com/office/officeart/2018/2/layout/IconVerticalSolidList"/>
    <dgm:cxn modelId="{E9242E8E-C135-4A80-88BE-A49127D09A77}" type="presParOf" srcId="{55B78663-7687-4CF0-942B-FE58884096D0}" destId="{0795DB0E-28A9-4930-BC40-CB206380AA23}" srcOrd="2" destOrd="0" presId="urn:microsoft.com/office/officeart/2018/2/layout/IconVerticalSolidList"/>
    <dgm:cxn modelId="{A35D1A1A-0E95-47B0-BA25-422E8E771EA8}" type="presParOf" srcId="{55B78663-7687-4CF0-942B-FE58884096D0}" destId="{9F02E04B-AC11-45D3-9D4C-79C76F5D654D}" srcOrd="3" destOrd="0" presId="urn:microsoft.com/office/officeart/2018/2/layout/IconVerticalSolidList"/>
    <dgm:cxn modelId="{A5DDE7A5-3C4B-48C6-BA84-BD77AE41D7C1}" type="presParOf" srcId="{19163DEA-731F-40AA-8DE9-850ED9373FA0}" destId="{AC3474DB-512D-450E-BFD1-12BC236969A0}" srcOrd="1" destOrd="0" presId="urn:microsoft.com/office/officeart/2018/2/layout/IconVerticalSolidList"/>
    <dgm:cxn modelId="{BA909A35-41F8-4991-A802-DB4DAB1DC230}" type="presParOf" srcId="{19163DEA-731F-40AA-8DE9-850ED9373FA0}" destId="{85715088-D0D8-4388-8041-C43B3CF7F8C7}" srcOrd="2" destOrd="0" presId="urn:microsoft.com/office/officeart/2018/2/layout/IconVerticalSolidList"/>
    <dgm:cxn modelId="{6A3E3EF6-2F01-4A27-B2DE-03E99C3C9A08}" type="presParOf" srcId="{85715088-D0D8-4388-8041-C43B3CF7F8C7}" destId="{92DC9E5E-1EE0-4DB2-9E0E-2921019D31CC}" srcOrd="0" destOrd="0" presId="urn:microsoft.com/office/officeart/2018/2/layout/IconVerticalSolidList"/>
    <dgm:cxn modelId="{89296739-66F8-42B7-935B-097537C98839}" type="presParOf" srcId="{85715088-D0D8-4388-8041-C43B3CF7F8C7}" destId="{C40B88D3-2411-4825-B4BC-3BD5D9306220}" srcOrd="1" destOrd="0" presId="urn:microsoft.com/office/officeart/2018/2/layout/IconVerticalSolidList"/>
    <dgm:cxn modelId="{AA044180-E06D-4D52-85BC-5076906FF80F}" type="presParOf" srcId="{85715088-D0D8-4388-8041-C43B3CF7F8C7}" destId="{7F9E0523-6ABD-490A-8D89-93E3D7FEB2F1}" srcOrd="2" destOrd="0" presId="urn:microsoft.com/office/officeart/2018/2/layout/IconVerticalSolidList"/>
    <dgm:cxn modelId="{AC023203-94D1-4CE4-9B95-45F6E8AA8B42}" type="presParOf" srcId="{85715088-D0D8-4388-8041-C43B3CF7F8C7}" destId="{B6A1990E-4D13-4610-9144-3D65258AFC8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9CF35E4-E73B-4B0C-A76D-409BC7014D31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1DAD67BD-06EE-40AF-B5FD-ED4304CE01B5}">
      <dgm:prSet/>
      <dgm:spPr/>
      <dgm:t>
        <a:bodyPr/>
        <a:lstStyle/>
        <a:p>
          <a:r>
            <a:rPr lang="zh-TW"/>
            <a:t>首先，透「因果追蹤」分別找出輸入句子和</a:t>
          </a:r>
          <a:r>
            <a:rPr lang="en-US"/>
            <a:t>transform</a:t>
          </a:r>
          <a:r>
            <a:rPr lang="zh-TW"/>
            <a:t>模組的重要部分</a:t>
          </a:r>
          <a:endParaRPr lang="en-US"/>
        </a:p>
      </dgm:t>
    </dgm:pt>
    <dgm:pt modelId="{F72441B3-8119-4FE4-8283-E152E073FAFE}" type="parTrans" cxnId="{B79DF76A-DB0D-409C-A03F-5BFAF3F8244B}">
      <dgm:prSet/>
      <dgm:spPr/>
      <dgm:t>
        <a:bodyPr/>
        <a:lstStyle/>
        <a:p>
          <a:endParaRPr lang="en-US"/>
        </a:p>
      </dgm:t>
    </dgm:pt>
    <dgm:pt modelId="{2FD26F96-75A1-438F-89FC-50AE8C3BDD17}" type="sibTrans" cxnId="{B79DF76A-DB0D-409C-A03F-5BFAF3F8244B}">
      <dgm:prSet/>
      <dgm:spPr/>
      <dgm:t>
        <a:bodyPr/>
        <a:lstStyle/>
        <a:p>
          <a:endParaRPr lang="en-US"/>
        </a:p>
      </dgm:t>
    </dgm:pt>
    <dgm:pt modelId="{DBD079CF-66F2-4020-BD0D-92134ECB640F}">
      <dgm:prSet/>
      <dgm:spPr/>
      <dgm:t>
        <a:bodyPr/>
        <a:lstStyle/>
        <a:p>
          <a:r>
            <a:rPr lang="zh-TW"/>
            <a:t>再透過</a:t>
          </a:r>
          <a:r>
            <a:rPr lang="en-US"/>
            <a:t>ROME</a:t>
          </a:r>
          <a:r>
            <a:rPr lang="zh-TW"/>
            <a:t>對於特定部分做準確地修改</a:t>
          </a:r>
          <a:endParaRPr lang="en-US"/>
        </a:p>
      </dgm:t>
    </dgm:pt>
    <dgm:pt modelId="{BBCABB20-CB98-44B7-B3CF-5B430CEE786C}" type="parTrans" cxnId="{05AB5CD0-BD17-4071-BB7C-A36E1CC52A61}">
      <dgm:prSet/>
      <dgm:spPr/>
      <dgm:t>
        <a:bodyPr/>
        <a:lstStyle/>
        <a:p>
          <a:endParaRPr lang="en-US"/>
        </a:p>
      </dgm:t>
    </dgm:pt>
    <dgm:pt modelId="{CBF4DDDB-8CAD-4E52-B103-7A76F40B4DF9}" type="sibTrans" cxnId="{05AB5CD0-BD17-4071-BB7C-A36E1CC52A61}">
      <dgm:prSet/>
      <dgm:spPr/>
      <dgm:t>
        <a:bodyPr/>
        <a:lstStyle/>
        <a:p>
          <a:endParaRPr lang="en-US"/>
        </a:p>
      </dgm:t>
    </dgm:pt>
    <dgm:pt modelId="{5705917C-A18F-429C-A47A-B9B85F8FF66B}" type="pres">
      <dgm:prSet presAssocID="{99CF35E4-E73B-4B0C-A76D-409BC7014D31}" presName="root" presStyleCnt="0">
        <dgm:presLayoutVars>
          <dgm:dir/>
          <dgm:resizeHandles val="exact"/>
        </dgm:presLayoutVars>
      </dgm:prSet>
      <dgm:spPr/>
    </dgm:pt>
    <dgm:pt modelId="{97A0D389-691B-4D6A-A057-870B2D611B99}" type="pres">
      <dgm:prSet presAssocID="{1DAD67BD-06EE-40AF-B5FD-ED4304CE01B5}" presName="compNode" presStyleCnt="0"/>
      <dgm:spPr/>
    </dgm:pt>
    <dgm:pt modelId="{4A2B76D6-B2C0-4E92-A527-826541A18A42}" type="pres">
      <dgm:prSet presAssocID="{1DAD67BD-06EE-40AF-B5FD-ED4304CE01B5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機器人"/>
        </a:ext>
      </dgm:extLst>
    </dgm:pt>
    <dgm:pt modelId="{69F8A317-413F-442E-B111-9AF0E0DABAA3}" type="pres">
      <dgm:prSet presAssocID="{1DAD67BD-06EE-40AF-B5FD-ED4304CE01B5}" presName="spaceRect" presStyleCnt="0"/>
      <dgm:spPr/>
    </dgm:pt>
    <dgm:pt modelId="{7EF2E9FD-4CA0-4FD0-ADAD-39E2FD954348}" type="pres">
      <dgm:prSet presAssocID="{1DAD67BD-06EE-40AF-B5FD-ED4304CE01B5}" presName="textRect" presStyleLbl="revTx" presStyleIdx="0" presStyleCnt="2">
        <dgm:presLayoutVars>
          <dgm:chMax val="1"/>
          <dgm:chPref val="1"/>
        </dgm:presLayoutVars>
      </dgm:prSet>
      <dgm:spPr/>
    </dgm:pt>
    <dgm:pt modelId="{3BA39E5B-9388-44D2-A225-CCF64F202038}" type="pres">
      <dgm:prSet presAssocID="{2FD26F96-75A1-438F-89FC-50AE8C3BDD17}" presName="sibTrans" presStyleCnt="0"/>
      <dgm:spPr/>
    </dgm:pt>
    <dgm:pt modelId="{CF207F65-2FB6-47B2-8699-E1E2FFCC02B2}" type="pres">
      <dgm:prSet presAssocID="{DBD079CF-66F2-4020-BD0D-92134ECB640F}" presName="compNode" presStyleCnt="0"/>
      <dgm:spPr/>
    </dgm:pt>
    <dgm:pt modelId="{2E05E2F7-3CC2-47AC-83A0-1B8BD5BC9380}" type="pres">
      <dgm:prSet presAssocID="{DBD079CF-66F2-4020-BD0D-92134ECB640F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標記"/>
        </a:ext>
      </dgm:extLst>
    </dgm:pt>
    <dgm:pt modelId="{EDF9DE86-2048-4901-9D31-D6F8D26AE315}" type="pres">
      <dgm:prSet presAssocID="{DBD079CF-66F2-4020-BD0D-92134ECB640F}" presName="spaceRect" presStyleCnt="0"/>
      <dgm:spPr/>
    </dgm:pt>
    <dgm:pt modelId="{E3B7366D-DB75-4714-8382-6441C6070A80}" type="pres">
      <dgm:prSet presAssocID="{DBD079CF-66F2-4020-BD0D-92134ECB640F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B79DF76A-DB0D-409C-A03F-5BFAF3F8244B}" srcId="{99CF35E4-E73B-4B0C-A76D-409BC7014D31}" destId="{1DAD67BD-06EE-40AF-B5FD-ED4304CE01B5}" srcOrd="0" destOrd="0" parTransId="{F72441B3-8119-4FE4-8283-E152E073FAFE}" sibTransId="{2FD26F96-75A1-438F-89FC-50AE8C3BDD17}"/>
    <dgm:cxn modelId="{DF274153-0391-443B-B5B6-BD5456587A38}" type="presOf" srcId="{DBD079CF-66F2-4020-BD0D-92134ECB640F}" destId="{E3B7366D-DB75-4714-8382-6441C6070A80}" srcOrd="0" destOrd="0" presId="urn:microsoft.com/office/officeart/2018/2/layout/IconLabelList"/>
    <dgm:cxn modelId="{C4678289-42BE-4F13-9D27-A967DF8DD667}" type="presOf" srcId="{1DAD67BD-06EE-40AF-B5FD-ED4304CE01B5}" destId="{7EF2E9FD-4CA0-4FD0-ADAD-39E2FD954348}" srcOrd="0" destOrd="0" presId="urn:microsoft.com/office/officeart/2018/2/layout/IconLabelList"/>
    <dgm:cxn modelId="{F6F4BDA0-866D-41CB-B20B-9F2508260931}" type="presOf" srcId="{99CF35E4-E73B-4B0C-A76D-409BC7014D31}" destId="{5705917C-A18F-429C-A47A-B9B85F8FF66B}" srcOrd="0" destOrd="0" presId="urn:microsoft.com/office/officeart/2018/2/layout/IconLabelList"/>
    <dgm:cxn modelId="{05AB5CD0-BD17-4071-BB7C-A36E1CC52A61}" srcId="{99CF35E4-E73B-4B0C-A76D-409BC7014D31}" destId="{DBD079CF-66F2-4020-BD0D-92134ECB640F}" srcOrd="1" destOrd="0" parTransId="{BBCABB20-CB98-44B7-B3CF-5B430CEE786C}" sibTransId="{CBF4DDDB-8CAD-4E52-B103-7A76F40B4DF9}"/>
    <dgm:cxn modelId="{E2323C2B-2AB6-48CC-846A-006A057B5755}" type="presParOf" srcId="{5705917C-A18F-429C-A47A-B9B85F8FF66B}" destId="{97A0D389-691B-4D6A-A057-870B2D611B99}" srcOrd="0" destOrd="0" presId="urn:microsoft.com/office/officeart/2018/2/layout/IconLabelList"/>
    <dgm:cxn modelId="{C4644D16-E1B8-4563-9B04-B78FC19D5FA7}" type="presParOf" srcId="{97A0D389-691B-4D6A-A057-870B2D611B99}" destId="{4A2B76D6-B2C0-4E92-A527-826541A18A42}" srcOrd="0" destOrd="0" presId="urn:microsoft.com/office/officeart/2018/2/layout/IconLabelList"/>
    <dgm:cxn modelId="{1BF8AB8C-FC66-4968-A060-9EFDFF6530F4}" type="presParOf" srcId="{97A0D389-691B-4D6A-A057-870B2D611B99}" destId="{69F8A317-413F-442E-B111-9AF0E0DABAA3}" srcOrd="1" destOrd="0" presId="urn:microsoft.com/office/officeart/2018/2/layout/IconLabelList"/>
    <dgm:cxn modelId="{B2F432BB-C3AF-4E59-AAF7-633D2273E208}" type="presParOf" srcId="{97A0D389-691B-4D6A-A057-870B2D611B99}" destId="{7EF2E9FD-4CA0-4FD0-ADAD-39E2FD954348}" srcOrd="2" destOrd="0" presId="urn:microsoft.com/office/officeart/2018/2/layout/IconLabelList"/>
    <dgm:cxn modelId="{AE643AF4-8D9E-4513-8342-5E4440618EA6}" type="presParOf" srcId="{5705917C-A18F-429C-A47A-B9B85F8FF66B}" destId="{3BA39E5B-9388-44D2-A225-CCF64F202038}" srcOrd="1" destOrd="0" presId="urn:microsoft.com/office/officeart/2018/2/layout/IconLabelList"/>
    <dgm:cxn modelId="{432B2265-A9B7-4B69-8EC5-F49A8A7D95D9}" type="presParOf" srcId="{5705917C-A18F-429C-A47A-B9B85F8FF66B}" destId="{CF207F65-2FB6-47B2-8699-E1E2FFCC02B2}" srcOrd="2" destOrd="0" presId="urn:microsoft.com/office/officeart/2018/2/layout/IconLabelList"/>
    <dgm:cxn modelId="{39476473-BFED-4C04-A751-CAE59F4E718A}" type="presParOf" srcId="{CF207F65-2FB6-47B2-8699-E1E2FFCC02B2}" destId="{2E05E2F7-3CC2-47AC-83A0-1B8BD5BC9380}" srcOrd="0" destOrd="0" presId="urn:microsoft.com/office/officeart/2018/2/layout/IconLabelList"/>
    <dgm:cxn modelId="{98501AA7-193E-4FE6-9DAE-EBD1902BB1E6}" type="presParOf" srcId="{CF207F65-2FB6-47B2-8699-E1E2FFCC02B2}" destId="{EDF9DE86-2048-4901-9D31-D6F8D26AE315}" srcOrd="1" destOrd="0" presId="urn:microsoft.com/office/officeart/2018/2/layout/IconLabelList"/>
    <dgm:cxn modelId="{382CEC00-E251-4FB9-8A1D-099B8D8085B0}" type="presParOf" srcId="{CF207F65-2FB6-47B2-8699-E1E2FFCC02B2}" destId="{E3B7366D-DB75-4714-8382-6441C6070A80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2565D55-8428-49FD-A62F-FDE63B9205D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24A3AD6-7756-4594-97D9-71B7A4D77672}">
      <dgm:prSet/>
      <dgm:spPr/>
      <dgm:t>
        <a:bodyPr/>
        <a:lstStyle/>
        <a:p>
          <a:pPr>
            <a:lnSpc>
              <a:spcPct val="100000"/>
            </a:lnSpc>
          </a:pPr>
          <a:r>
            <a:rPr lang="zh-TW"/>
            <a:t>為甚麼和預期的結果不一樣？</a:t>
          </a:r>
          <a:endParaRPr lang="en-US"/>
        </a:p>
      </dgm:t>
    </dgm:pt>
    <dgm:pt modelId="{F2CDEC27-A46B-48F9-9B65-61A5C2F63E0F}" type="parTrans" cxnId="{953B8269-C103-4D42-8E45-F92A25F10C11}">
      <dgm:prSet/>
      <dgm:spPr/>
      <dgm:t>
        <a:bodyPr/>
        <a:lstStyle/>
        <a:p>
          <a:endParaRPr lang="en-US"/>
        </a:p>
      </dgm:t>
    </dgm:pt>
    <dgm:pt modelId="{167097C1-B867-44D1-81B7-C5C0BED587E7}" type="sibTrans" cxnId="{953B8269-C103-4D42-8E45-F92A25F10C11}">
      <dgm:prSet/>
      <dgm:spPr/>
      <dgm:t>
        <a:bodyPr/>
        <a:lstStyle/>
        <a:p>
          <a:endParaRPr lang="en-US"/>
        </a:p>
      </dgm:t>
    </dgm:pt>
    <dgm:pt modelId="{1609DF9C-37EA-4748-8353-C6EB2A522146}">
      <dgm:prSet/>
      <dgm:spPr/>
      <dgm:t>
        <a:bodyPr/>
        <a:lstStyle/>
        <a:p>
          <a:pPr>
            <a:lnSpc>
              <a:spcPct val="100000"/>
            </a:lnSpc>
          </a:pPr>
          <a:r>
            <a:rPr lang="zh-TW" dirty="0"/>
            <a:t>知識的分散式儲存 </a:t>
          </a:r>
          <a:r>
            <a:rPr lang="en-US" dirty="0"/>
            <a:t>(Distributed Storage)</a:t>
          </a:r>
          <a:r>
            <a:rPr lang="zh-TW" dirty="0"/>
            <a:t>： 事實知識分佈於多層網路中。</a:t>
          </a:r>
          <a:r>
            <a:rPr lang="en-US" dirty="0"/>
            <a:t>ROME </a:t>
          </a:r>
          <a:r>
            <a:rPr lang="zh-TW" dirty="0"/>
            <a:t>僅修改影響力最大的一層，其他層仍可能殘留微弱的舊記憶訊號。</a:t>
          </a:r>
          <a:endParaRPr lang="en-US" dirty="0"/>
        </a:p>
      </dgm:t>
    </dgm:pt>
    <dgm:pt modelId="{B8F78E42-4A35-4DE1-A501-8693D0FE33DE}" type="parTrans" cxnId="{30B68435-32A3-4F5A-87BB-F70DF011AB32}">
      <dgm:prSet/>
      <dgm:spPr/>
      <dgm:t>
        <a:bodyPr/>
        <a:lstStyle/>
        <a:p>
          <a:endParaRPr lang="en-US"/>
        </a:p>
      </dgm:t>
    </dgm:pt>
    <dgm:pt modelId="{9C7ADC3B-6CA7-447F-BA10-3D5CE1BF2F41}" type="sibTrans" cxnId="{30B68435-32A3-4F5A-87BB-F70DF011AB32}">
      <dgm:prSet/>
      <dgm:spPr/>
      <dgm:t>
        <a:bodyPr/>
        <a:lstStyle/>
        <a:p>
          <a:endParaRPr lang="en-US"/>
        </a:p>
      </dgm:t>
    </dgm:pt>
    <dgm:pt modelId="{D4BAD652-5949-4DF1-96BB-42E07F1AF329}">
      <dgm:prSet/>
      <dgm:spPr/>
      <dgm:t>
        <a:bodyPr/>
        <a:lstStyle/>
        <a:p>
          <a:pPr>
            <a:lnSpc>
              <a:spcPct val="100000"/>
            </a:lnSpc>
          </a:pPr>
          <a:r>
            <a:rPr lang="zh-TW" dirty="0"/>
            <a:t>注意力機制衝突 </a:t>
          </a:r>
          <a:r>
            <a:rPr lang="en-US" dirty="0"/>
            <a:t>(Attention Conflict)</a:t>
          </a:r>
          <a:r>
            <a:rPr lang="zh-TW" dirty="0"/>
            <a:t>： 模型傾向直接從 </a:t>
          </a:r>
          <a:r>
            <a:rPr lang="en-US" dirty="0"/>
            <a:t>Prompt </a:t>
          </a:r>
          <a:r>
            <a:rPr lang="zh-TW" dirty="0"/>
            <a:t>複製上下文（</a:t>
          </a:r>
          <a:r>
            <a:rPr lang="en-US" dirty="0"/>
            <a:t>Copying mechanism</a:t>
          </a:r>
          <a:r>
            <a:rPr lang="zh-TW" dirty="0"/>
            <a:t>）。當 </a:t>
          </a:r>
          <a:r>
            <a:rPr lang="en-US" dirty="0"/>
            <a:t>Prompt </a:t>
          </a:r>
          <a:r>
            <a:rPr lang="zh-TW" dirty="0"/>
            <a:t>包含舊詞（如 </a:t>
          </a:r>
          <a:r>
            <a:rPr lang="en-US" dirty="0"/>
            <a:t>"Taiwan"</a:t>
          </a:r>
          <a:r>
            <a:rPr lang="zh-TW" dirty="0"/>
            <a:t>）時，會與 </a:t>
          </a:r>
          <a:r>
            <a:rPr lang="en-US" dirty="0"/>
            <a:t>MLP </a:t>
          </a:r>
          <a:r>
            <a:rPr lang="zh-TW" dirty="0"/>
            <a:t>輸出的新知識（</a:t>
          </a:r>
          <a:r>
            <a:rPr lang="en-US" dirty="0"/>
            <a:t>"Japan"</a:t>
          </a:r>
          <a:r>
            <a:rPr lang="zh-TW" dirty="0"/>
            <a:t>）發生競爭，導致混合輸出。</a:t>
          </a:r>
          <a:endParaRPr lang="en-US" dirty="0"/>
        </a:p>
      </dgm:t>
    </dgm:pt>
    <dgm:pt modelId="{22BFDA61-3B8B-4D23-A87F-875D27BCC87A}" type="parTrans" cxnId="{D52B97EE-1311-479F-8038-FBBFCED48DD0}">
      <dgm:prSet/>
      <dgm:spPr/>
      <dgm:t>
        <a:bodyPr/>
        <a:lstStyle/>
        <a:p>
          <a:endParaRPr lang="en-US"/>
        </a:p>
      </dgm:t>
    </dgm:pt>
    <dgm:pt modelId="{EC0F3748-E9C5-4BB6-B12D-7524146E3D4F}" type="sibTrans" cxnId="{D52B97EE-1311-479F-8038-FBBFCED48DD0}">
      <dgm:prSet/>
      <dgm:spPr/>
      <dgm:t>
        <a:bodyPr/>
        <a:lstStyle/>
        <a:p>
          <a:endParaRPr lang="en-US"/>
        </a:p>
      </dgm:t>
    </dgm:pt>
    <dgm:pt modelId="{CCD94FC6-B53E-4145-94C7-64E8F360B409}" type="pres">
      <dgm:prSet presAssocID="{72565D55-8428-49FD-A62F-FDE63B9205D6}" presName="root" presStyleCnt="0">
        <dgm:presLayoutVars>
          <dgm:dir/>
          <dgm:resizeHandles val="exact"/>
        </dgm:presLayoutVars>
      </dgm:prSet>
      <dgm:spPr/>
    </dgm:pt>
    <dgm:pt modelId="{1426AD31-3AAF-4D37-A953-015322A0FB88}" type="pres">
      <dgm:prSet presAssocID="{D24A3AD6-7756-4594-97D9-71B7A4D77672}" presName="compNode" presStyleCnt="0"/>
      <dgm:spPr/>
    </dgm:pt>
    <dgm:pt modelId="{0EFC0A2D-BF83-412E-992F-969C5BE1CFAD}" type="pres">
      <dgm:prSet presAssocID="{D24A3AD6-7756-4594-97D9-71B7A4D77672}" presName="bgRect" presStyleLbl="bgShp" presStyleIdx="0" presStyleCnt="3"/>
      <dgm:spPr/>
    </dgm:pt>
    <dgm:pt modelId="{067A5571-C3DE-4A7A-AAAE-E05241A308B4}" type="pres">
      <dgm:prSet presAssocID="{D24A3AD6-7756-4594-97D9-71B7A4D7767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氣球"/>
        </a:ext>
      </dgm:extLst>
    </dgm:pt>
    <dgm:pt modelId="{6C70D8E8-4B38-4E06-9A60-90B7BA5ED1F0}" type="pres">
      <dgm:prSet presAssocID="{D24A3AD6-7756-4594-97D9-71B7A4D77672}" presName="spaceRect" presStyleCnt="0"/>
      <dgm:spPr/>
    </dgm:pt>
    <dgm:pt modelId="{85E4394C-13C7-474D-8B7E-44BBD842ECAC}" type="pres">
      <dgm:prSet presAssocID="{D24A3AD6-7756-4594-97D9-71B7A4D77672}" presName="parTx" presStyleLbl="revTx" presStyleIdx="0" presStyleCnt="3">
        <dgm:presLayoutVars>
          <dgm:chMax val="0"/>
          <dgm:chPref val="0"/>
        </dgm:presLayoutVars>
      </dgm:prSet>
      <dgm:spPr/>
    </dgm:pt>
    <dgm:pt modelId="{D9E2657D-5881-465F-BE43-774FD644D79C}" type="pres">
      <dgm:prSet presAssocID="{167097C1-B867-44D1-81B7-C5C0BED587E7}" presName="sibTrans" presStyleCnt="0"/>
      <dgm:spPr/>
    </dgm:pt>
    <dgm:pt modelId="{5E5AE96C-B4FD-466A-8DB6-D9B6C4D7AD37}" type="pres">
      <dgm:prSet presAssocID="{1609DF9C-37EA-4748-8353-C6EB2A522146}" presName="compNode" presStyleCnt="0"/>
      <dgm:spPr/>
    </dgm:pt>
    <dgm:pt modelId="{E04DC48A-6AE2-431A-B641-DB59FAADA82D}" type="pres">
      <dgm:prSet presAssocID="{1609DF9C-37EA-4748-8353-C6EB2A522146}" presName="bgRect" presStyleLbl="bgShp" presStyleIdx="1" presStyleCnt="3"/>
      <dgm:spPr/>
    </dgm:pt>
    <dgm:pt modelId="{C58FE156-C720-4E7F-AC92-B648973DCBDB}" type="pres">
      <dgm:prSet presAssocID="{1609DF9C-37EA-4748-8353-C6EB2A52214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伺服器"/>
        </a:ext>
      </dgm:extLst>
    </dgm:pt>
    <dgm:pt modelId="{478B7C1F-2179-4854-BD79-7B8273A71532}" type="pres">
      <dgm:prSet presAssocID="{1609DF9C-37EA-4748-8353-C6EB2A522146}" presName="spaceRect" presStyleCnt="0"/>
      <dgm:spPr/>
    </dgm:pt>
    <dgm:pt modelId="{FA91C331-69E5-4C84-A567-1B836488FCE6}" type="pres">
      <dgm:prSet presAssocID="{1609DF9C-37EA-4748-8353-C6EB2A522146}" presName="parTx" presStyleLbl="revTx" presStyleIdx="1" presStyleCnt="3">
        <dgm:presLayoutVars>
          <dgm:chMax val="0"/>
          <dgm:chPref val="0"/>
        </dgm:presLayoutVars>
      </dgm:prSet>
      <dgm:spPr/>
    </dgm:pt>
    <dgm:pt modelId="{92F28906-CC99-465E-B2BD-9891657F0851}" type="pres">
      <dgm:prSet presAssocID="{9C7ADC3B-6CA7-447F-BA10-3D5CE1BF2F41}" presName="sibTrans" presStyleCnt="0"/>
      <dgm:spPr/>
    </dgm:pt>
    <dgm:pt modelId="{1E7DA650-9F40-4764-BE03-C666E6FADC95}" type="pres">
      <dgm:prSet presAssocID="{D4BAD652-5949-4DF1-96BB-42E07F1AF329}" presName="compNode" presStyleCnt="0"/>
      <dgm:spPr/>
    </dgm:pt>
    <dgm:pt modelId="{B2DB6A2E-18BA-48CE-9327-9EF2F8EACDDA}" type="pres">
      <dgm:prSet presAssocID="{D4BAD652-5949-4DF1-96BB-42E07F1AF329}" presName="bgRect" presStyleLbl="bgShp" presStyleIdx="2" presStyleCnt="3"/>
      <dgm:spPr/>
    </dgm:pt>
    <dgm:pt modelId="{7B75B7C0-5599-4511-98EF-43AEC83C6E88}" type="pres">
      <dgm:prSet presAssocID="{D4BAD652-5949-4DF1-96BB-42E07F1AF32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危險"/>
        </a:ext>
      </dgm:extLst>
    </dgm:pt>
    <dgm:pt modelId="{75E7D2CB-CFCD-4FE5-9438-4257FCD78F06}" type="pres">
      <dgm:prSet presAssocID="{D4BAD652-5949-4DF1-96BB-42E07F1AF329}" presName="spaceRect" presStyleCnt="0"/>
      <dgm:spPr/>
    </dgm:pt>
    <dgm:pt modelId="{345CDA06-067C-40AE-8B58-D00049AD347F}" type="pres">
      <dgm:prSet presAssocID="{D4BAD652-5949-4DF1-96BB-42E07F1AF329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4D88B32E-F39F-4782-9A40-88A7B269F877}" type="presOf" srcId="{D4BAD652-5949-4DF1-96BB-42E07F1AF329}" destId="{345CDA06-067C-40AE-8B58-D00049AD347F}" srcOrd="0" destOrd="0" presId="urn:microsoft.com/office/officeart/2018/2/layout/IconVerticalSolidList"/>
    <dgm:cxn modelId="{30B68435-32A3-4F5A-87BB-F70DF011AB32}" srcId="{72565D55-8428-49FD-A62F-FDE63B9205D6}" destId="{1609DF9C-37EA-4748-8353-C6EB2A522146}" srcOrd="1" destOrd="0" parTransId="{B8F78E42-4A35-4DE1-A501-8693D0FE33DE}" sibTransId="{9C7ADC3B-6CA7-447F-BA10-3D5CE1BF2F41}"/>
    <dgm:cxn modelId="{953B8269-C103-4D42-8E45-F92A25F10C11}" srcId="{72565D55-8428-49FD-A62F-FDE63B9205D6}" destId="{D24A3AD6-7756-4594-97D9-71B7A4D77672}" srcOrd="0" destOrd="0" parTransId="{F2CDEC27-A46B-48F9-9B65-61A5C2F63E0F}" sibTransId="{167097C1-B867-44D1-81B7-C5C0BED587E7}"/>
    <dgm:cxn modelId="{2CDBE880-473B-4918-992A-F12225A4A613}" type="presOf" srcId="{72565D55-8428-49FD-A62F-FDE63B9205D6}" destId="{CCD94FC6-B53E-4145-94C7-64E8F360B409}" srcOrd="0" destOrd="0" presId="urn:microsoft.com/office/officeart/2018/2/layout/IconVerticalSolidList"/>
    <dgm:cxn modelId="{4E44D8A0-EB77-4CC1-B3F8-13F662360541}" type="presOf" srcId="{D24A3AD6-7756-4594-97D9-71B7A4D77672}" destId="{85E4394C-13C7-474D-8B7E-44BBD842ECAC}" srcOrd="0" destOrd="0" presId="urn:microsoft.com/office/officeart/2018/2/layout/IconVerticalSolidList"/>
    <dgm:cxn modelId="{C89979B4-0DD7-4D82-B0A2-7E0A20F5C775}" type="presOf" srcId="{1609DF9C-37EA-4748-8353-C6EB2A522146}" destId="{FA91C331-69E5-4C84-A567-1B836488FCE6}" srcOrd="0" destOrd="0" presId="urn:microsoft.com/office/officeart/2018/2/layout/IconVerticalSolidList"/>
    <dgm:cxn modelId="{D52B97EE-1311-479F-8038-FBBFCED48DD0}" srcId="{72565D55-8428-49FD-A62F-FDE63B9205D6}" destId="{D4BAD652-5949-4DF1-96BB-42E07F1AF329}" srcOrd="2" destOrd="0" parTransId="{22BFDA61-3B8B-4D23-A87F-875D27BCC87A}" sibTransId="{EC0F3748-E9C5-4BB6-B12D-7524146E3D4F}"/>
    <dgm:cxn modelId="{23B10528-71ED-4501-B905-65ADCDDFA484}" type="presParOf" srcId="{CCD94FC6-B53E-4145-94C7-64E8F360B409}" destId="{1426AD31-3AAF-4D37-A953-015322A0FB88}" srcOrd="0" destOrd="0" presId="urn:microsoft.com/office/officeart/2018/2/layout/IconVerticalSolidList"/>
    <dgm:cxn modelId="{FA8CD314-025C-42C7-A837-5DF8507F49E4}" type="presParOf" srcId="{1426AD31-3AAF-4D37-A953-015322A0FB88}" destId="{0EFC0A2D-BF83-412E-992F-969C5BE1CFAD}" srcOrd="0" destOrd="0" presId="urn:microsoft.com/office/officeart/2018/2/layout/IconVerticalSolidList"/>
    <dgm:cxn modelId="{2912ADCC-57C7-430D-891D-750E8296FFBC}" type="presParOf" srcId="{1426AD31-3AAF-4D37-A953-015322A0FB88}" destId="{067A5571-C3DE-4A7A-AAAE-E05241A308B4}" srcOrd="1" destOrd="0" presId="urn:microsoft.com/office/officeart/2018/2/layout/IconVerticalSolidList"/>
    <dgm:cxn modelId="{359AB6C2-28B3-4988-86E1-23C1B7B76869}" type="presParOf" srcId="{1426AD31-3AAF-4D37-A953-015322A0FB88}" destId="{6C70D8E8-4B38-4E06-9A60-90B7BA5ED1F0}" srcOrd="2" destOrd="0" presId="urn:microsoft.com/office/officeart/2018/2/layout/IconVerticalSolidList"/>
    <dgm:cxn modelId="{5A3A3E0D-ECBF-49BF-BD56-6DD4545B875F}" type="presParOf" srcId="{1426AD31-3AAF-4D37-A953-015322A0FB88}" destId="{85E4394C-13C7-474D-8B7E-44BBD842ECAC}" srcOrd="3" destOrd="0" presId="urn:microsoft.com/office/officeart/2018/2/layout/IconVerticalSolidList"/>
    <dgm:cxn modelId="{EBF644F3-738D-4248-BD9A-98D56E8BC168}" type="presParOf" srcId="{CCD94FC6-B53E-4145-94C7-64E8F360B409}" destId="{D9E2657D-5881-465F-BE43-774FD644D79C}" srcOrd="1" destOrd="0" presId="urn:microsoft.com/office/officeart/2018/2/layout/IconVerticalSolidList"/>
    <dgm:cxn modelId="{D7EC8D16-A2C3-4B8E-B2DB-0C6268597909}" type="presParOf" srcId="{CCD94FC6-B53E-4145-94C7-64E8F360B409}" destId="{5E5AE96C-B4FD-466A-8DB6-D9B6C4D7AD37}" srcOrd="2" destOrd="0" presId="urn:microsoft.com/office/officeart/2018/2/layout/IconVerticalSolidList"/>
    <dgm:cxn modelId="{9910E3B9-6CBD-43E7-95E0-D7BAC3C440BF}" type="presParOf" srcId="{5E5AE96C-B4FD-466A-8DB6-D9B6C4D7AD37}" destId="{E04DC48A-6AE2-431A-B641-DB59FAADA82D}" srcOrd="0" destOrd="0" presId="urn:microsoft.com/office/officeart/2018/2/layout/IconVerticalSolidList"/>
    <dgm:cxn modelId="{526EF825-04E8-4CE6-83EA-011D33145A52}" type="presParOf" srcId="{5E5AE96C-B4FD-466A-8DB6-D9B6C4D7AD37}" destId="{C58FE156-C720-4E7F-AC92-B648973DCBDB}" srcOrd="1" destOrd="0" presId="urn:microsoft.com/office/officeart/2018/2/layout/IconVerticalSolidList"/>
    <dgm:cxn modelId="{EEF152A9-F4B3-4EF3-AED9-72A04D5E3CFA}" type="presParOf" srcId="{5E5AE96C-B4FD-466A-8DB6-D9B6C4D7AD37}" destId="{478B7C1F-2179-4854-BD79-7B8273A71532}" srcOrd="2" destOrd="0" presId="urn:microsoft.com/office/officeart/2018/2/layout/IconVerticalSolidList"/>
    <dgm:cxn modelId="{7270E8D1-1165-4444-93A0-FC19CAC68762}" type="presParOf" srcId="{5E5AE96C-B4FD-466A-8DB6-D9B6C4D7AD37}" destId="{FA91C331-69E5-4C84-A567-1B836488FCE6}" srcOrd="3" destOrd="0" presId="urn:microsoft.com/office/officeart/2018/2/layout/IconVerticalSolidList"/>
    <dgm:cxn modelId="{B773B482-0564-47C9-B887-8302C3378ED9}" type="presParOf" srcId="{CCD94FC6-B53E-4145-94C7-64E8F360B409}" destId="{92F28906-CC99-465E-B2BD-9891657F0851}" srcOrd="3" destOrd="0" presId="urn:microsoft.com/office/officeart/2018/2/layout/IconVerticalSolidList"/>
    <dgm:cxn modelId="{89FDE9E2-FCEC-4867-815D-AB18DAFAC4E9}" type="presParOf" srcId="{CCD94FC6-B53E-4145-94C7-64E8F360B409}" destId="{1E7DA650-9F40-4764-BE03-C666E6FADC95}" srcOrd="4" destOrd="0" presId="urn:microsoft.com/office/officeart/2018/2/layout/IconVerticalSolidList"/>
    <dgm:cxn modelId="{1679A22D-A1B9-4FAF-9A33-5A9AB5B0C673}" type="presParOf" srcId="{1E7DA650-9F40-4764-BE03-C666E6FADC95}" destId="{B2DB6A2E-18BA-48CE-9327-9EF2F8EACDDA}" srcOrd="0" destOrd="0" presId="urn:microsoft.com/office/officeart/2018/2/layout/IconVerticalSolidList"/>
    <dgm:cxn modelId="{F65DAD98-6CAD-4C73-AB81-23861889A329}" type="presParOf" srcId="{1E7DA650-9F40-4764-BE03-C666E6FADC95}" destId="{7B75B7C0-5599-4511-98EF-43AEC83C6E88}" srcOrd="1" destOrd="0" presId="urn:microsoft.com/office/officeart/2018/2/layout/IconVerticalSolidList"/>
    <dgm:cxn modelId="{49E0C3DD-F9EC-4BA9-9F01-77A14868125D}" type="presParOf" srcId="{1E7DA650-9F40-4764-BE03-C666E6FADC95}" destId="{75E7D2CB-CFCD-4FE5-9438-4257FCD78F06}" srcOrd="2" destOrd="0" presId="urn:microsoft.com/office/officeart/2018/2/layout/IconVerticalSolidList"/>
    <dgm:cxn modelId="{28629D0B-AD07-45E0-A6B9-438BF85E7BA9}" type="presParOf" srcId="{1E7DA650-9F40-4764-BE03-C666E6FADC95}" destId="{345CDA06-067C-40AE-8B58-D00049AD347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E961BA-F366-4D7E-A1A3-986821EB69EF}">
      <dsp:nvSpPr>
        <dsp:cNvPr id="0" name=""/>
        <dsp:cNvSpPr/>
      </dsp:nvSpPr>
      <dsp:spPr>
        <a:xfrm>
          <a:off x="0" y="832103"/>
          <a:ext cx="7315200" cy="153619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8768D3-75BB-49A3-A025-015D8E8F7ACD}">
      <dsp:nvSpPr>
        <dsp:cNvPr id="0" name=""/>
        <dsp:cNvSpPr/>
      </dsp:nvSpPr>
      <dsp:spPr>
        <a:xfrm>
          <a:off x="464698" y="1177747"/>
          <a:ext cx="844905" cy="84490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02E04B-AC11-45D3-9D4C-79C76F5D654D}">
      <dsp:nvSpPr>
        <dsp:cNvPr id="0" name=""/>
        <dsp:cNvSpPr/>
      </dsp:nvSpPr>
      <dsp:spPr>
        <a:xfrm>
          <a:off x="1774301" y="832103"/>
          <a:ext cx="5540898" cy="15361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2580" tIns="162580" rIns="162580" bIns="16258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2200" kern="1200" dirty="0"/>
            <a:t>為了能夠修改</a:t>
          </a:r>
          <a:r>
            <a:rPr lang="en-US" sz="2200" kern="1200" dirty="0"/>
            <a:t>LLM</a:t>
          </a:r>
          <a:r>
            <a:rPr lang="zh-TW" sz="2200" kern="1200" dirty="0"/>
            <a:t>中的「事實」但又不希望每次修改都要重新訓練。</a:t>
          </a:r>
          <a:endParaRPr lang="en-US" sz="2200" kern="1200" dirty="0"/>
        </a:p>
      </dsp:txBody>
      <dsp:txXfrm>
        <a:off x="1774301" y="832103"/>
        <a:ext cx="5540898" cy="1536192"/>
      </dsp:txXfrm>
    </dsp:sp>
    <dsp:sp modelId="{92DC9E5E-1EE0-4DB2-9E0E-2921019D31CC}">
      <dsp:nvSpPr>
        <dsp:cNvPr id="0" name=""/>
        <dsp:cNvSpPr/>
      </dsp:nvSpPr>
      <dsp:spPr>
        <a:xfrm>
          <a:off x="0" y="2752344"/>
          <a:ext cx="7315200" cy="153619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0B88D3-2411-4825-B4BC-3BD5D9306220}">
      <dsp:nvSpPr>
        <dsp:cNvPr id="0" name=""/>
        <dsp:cNvSpPr/>
      </dsp:nvSpPr>
      <dsp:spPr>
        <a:xfrm>
          <a:off x="464698" y="3097987"/>
          <a:ext cx="844905" cy="84490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A1990E-4D13-4610-9144-3D65258AFC8A}">
      <dsp:nvSpPr>
        <dsp:cNvPr id="0" name=""/>
        <dsp:cNvSpPr/>
      </dsp:nvSpPr>
      <dsp:spPr>
        <a:xfrm>
          <a:off x="1774301" y="2752344"/>
          <a:ext cx="5540898" cy="15361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2580" tIns="162580" rIns="162580" bIns="16258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2200" kern="1200"/>
            <a:t>例如：世界首富若原為比爾蓋茲變成馬斯克，這樣模型就需要改變他所儲存的事實。</a:t>
          </a:r>
          <a:endParaRPr lang="en-US" sz="2200" kern="1200"/>
        </a:p>
      </dsp:txBody>
      <dsp:txXfrm>
        <a:off x="1774301" y="2752344"/>
        <a:ext cx="5540898" cy="153619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2B76D6-B2C0-4E92-A527-826541A18A42}">
      <dsp:nvSpPr>
        <dsp:cNvPr id="0" name=""/>
        <dsp:cNvSpPr/>
      </dsp:nvSpPr>
      <dsp:spPr>
        <a:xfrm>
          <a:off x="1625879" y="34063"/>
          <a:ext cx="1944000" cy="194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F2E9FD-4CA0-4FD0-ADAD-39E2FD954348}">
      <dsp:nvSpPr>
        <dsp:cNvPr id="0" name=""/>
        <dsp:cNvSpPr/>
      </dsp:nvSpPr>
      <dsp:spPr>
        <a:xfrm>
          <a:off x="437879" y="2448282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1700" kern="1200"/>
            <a:t>首先，透「因果追蹤」分別找出輸入句子和</a:t>
          </a:r>
          <a:r>
            <a:rPr lang="en-US" sz="1700" kern="1200"/>
            <a:t>transform</a:t>
          </a:r>
          <a:r>
            <a:rPr lang="zh-TW" sz="1700" kern="1200"/>
            <a:t>模組的重要部分</a:t>
          </a:r>
          <a:endParaRPr lang="en-US" sz="1700" kern="1200"/>
        </a:p>
      </dsp:txBody>
      <dsp:txXfrm>
        <a:off x="437879" y="2448282"/>
        <a:ext cx="4320000" cy="720000"/>
      </dsp:txXfrm>
    </dsp:sp>
    <dsp:sp modelId="{2E05E2F7-3CC2-47AC-83A0-1B8BD5BC9380}">
      <dsp:nvSpPr>
        <dsp:cNvPr id="0" name=""/>
        <dsp:cNvSpPr/>
      </dsp:nvSpPr>
      <dsp:spPr>
        <a:xfrm>
          <a:off x="6701880" y="34063"/>
          <a:ext cx="1944000" cy="1944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B7366D-DB75-4714-8382-6441C6070A80}">
      <dsp:nvSpPr>
        <dsp:cNvPr id="0" name=""/>
        <dsp:cNvSpPr/>
      </dsp:nvSpPr>
      <dsp:spPr>
        <a:xfrm>
          <a:off x="5513880" y="2448282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1700" kern="1200"/>
            <a:t>再透過</a:t>
          </a:r>
          <a:r>
            <a:rPr lang="en-US" sz="1700" kern="1200"/>
            <a:t>ROME</a:t>
          </a:r>
          <a:r>
            <a:rPr lang="zh-TW" sz="1700" kern="1200"/>
            <a:t>對於特定部分做準確地修改</a:t>
          </a:r>
          <a:endParaRPr lang="en-US" sz="1700" kern="1200"/>
        </a:p>
      </dsp:txBody>
      <dsp:txXfrm>
        <a:off x="5513880" y="2448282"/>
        <a:ext cx="432000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FC0A2D-BF83-412E-992F-969C5BE1CFAD}">
      <dsp:nvSpPr>
        <dsp:cNvPr id="0" name=""/>
        <dsp:cNvSpPr/>
      </dsp:nvSpPr>
      <dsp:spPr>
        <a:xfrm>
          <a:off x="0" y="621"/>
          <a:ext cx="7728267" cy="14531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7A5571-C3DE-4A7A-AAAE-E05241A308B4}">
      <dsp:nvSpPr>
        <dsp:cNvPr id="0" name=""/>
        <dsp:cNvSpPr/>
      </dsp:nvSpPr>
      <dsp:spPr>
        <a:xfrm>
          <a:off x="439582" y="327583"/>
          <a:ext cx="799241" cy="79924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E4394C-13C7-474D-8B7E-44BBD842ECAC}">
      <dsp:nvSpPr>
        <dsp:cNvPr id="0" name=""/>
        <dsp:cNvSpPr/>
      </dsp:nvSpPr>
      <dsp:spPr>
        <a:xfrm>
          <a:off x="1678407" y="621"/>
          <a:ext cx="6049859" cy="14531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3793" tIns="153793" rIns="153793" bIns="153793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1500" kern="1200"/>
            <a:t>為甚麼和預期的結果不一樣？</a:t>
          </a:r>
          <a:endParaRPr lang="en-US" sz="1500" kern="1200"/>
        </a:p>
      </dsp:txBody>
      <dsp:txXfrm>
        <a:off x="1678407" y="621"/>
        <a:ext cx="6049859" cy="1453166"/>
      </dsp:txXfrm>
    </dsp:sp>
    <dsp:sp modelId="{E04DC48A-6AE2-431A-B641-DB59FAADA82D}">
      <dsp:nvSpPr>
        <dsp:cNvPr id="0" name=""/>
        <dsp:cNvSpPr/>
      </dsp:nvSpPr>
      <dsp:spPr>
        <a:xfrm>
          <a:off x="0" y="1817078"/>
          <a:ext cx="7728267" cy="14531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8FE156-C720-4E7F-AC92-B648973DCBDB}">
      <dsp:nvSpPr>
        <dsp:cNvPr id="0" name=""/>
        <dsp:cNvSpPr/>
      </dsp:nvSpPr>
      <dsp:spPr>
        <a:xfrm>
          <a:off x="439582" y="2144041"/>
          <a:ext cx="799241" cy="79924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91C331-69E5-4C84-A567-1B836488FCE6}">
      <dsp:nvSpPr>
        <dsp:cNvPr id="0" name=""/>
        <dsp:cNvSpPr/>
      </dsp:nvSpPr>
      <dsp:spPr>
        <a:xfrm>
          <a:off x="1678407" y="1817078"/>
          <a:ext cx="6049859" cy="14531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3793" tIns="153793" rIns="153793" bIns="153793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1500" kern="1200" dirty="0"/>
            <a:t>知識的分散式儲存 </a:t>
          </a:r>
          <a:r>
            <a:rPr lang="en-US" sz="1500" kern="1200" dirty="0"/>
            <a:t>(Distributed Storage)</a:t>
          </a:r>
          <a:r>
            <a:rPr lang="zh-TW" sz="1500" kern="1200" dirty="0"/>
            <a:t>： 事實知識分佈於多層網路中。</a:t>
          </a:r>
          <a:r>
            <a:rPr lang="en-US" sz="1500" kern="1200" dirty="0"/>
            <a:t>ROME </a:t>
          </a:r>
          <a:r>
            <a:rPr lang="zh-TW" sz="1500" kern="1200" dirty="0"/>
            <a:t>僅修改影響力最大的一層，其他層仍可能殘留微弱的舊記憶訊號。</a:t>
          </a:r>
          <a:endParaRPr lang="en-US" sz="1500" kern="1200" dirty="0"/>
        </a:p>
      </dsp:txBody>
      <dsp:txXfrm>
        <a:off x="1678407" y="1817078"/>
        <a:ext cx="6049859" cy="1453166"/>
      </dsp:txXfrm>
    </dsp:sp>
    <dsp:sp modelId="{B2DB6A2E-18BA-48CE-9327-9EF2F8EACDDA}">
      <dsp:nvSpPr>
        <dsp:cNvPr id="0" name=""/>
        <dsp:cNvSpPr/>
      </dsp:nvSpPr>
      <dsp:spPr>
        <a:xfrm>
          <a:off x="0" y="3633536"/>
          <a:ext cx="7728267" cy="14531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75B7C0-5599-4511-98EF-43AEC83C6E88}">
      <dsp:nvSpPr>
        <dsp:cNvPr id="0" name=""/>
        <dsp:cNvSpPr/>
      </dsp:nvSpPr>
      <dsp:spPr>
        <a:xfrm>
          <a:off x="439582" y="3960499"/>
          <a:ext cx="799241" cy="79924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5CDA06-067C-40AE-8B58-D00049AD347F}">
      <dsp:nvSpPr>
        <dsp:cNvPr id="0" name=""/>
        <dsp:cNvSpPr/>
      </dsp:nvSpPr>
      <dsp:spPr>
        <a:xfrm>
          <a:off x="1678407" y="3633536"/>
          <a:ext cx="6049859" cy="14531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3793" tIns="153793" rIns="153793" bIns="153793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1500" kern="1200" dirty="0"/>
            <a:t>注意力機制衝突 </a:t>
          </a:r>
          <a:r>
            <a:rPr lang="en-US" sz="1500" kern="1200" dirty="0"/>
            <a:t>(Attention Conflict)</a:t>
          </a:r>
          <a:r>
            <a:rPr lang="zh-TW" sz="1500" kern="1200" dirty="0"/>
            <a:t>： 模型傾向直接從 </a:t>
          </a:r>
          <a:r>
            <a:rPr lang="en-US" sz="1500" kern="1200" dirty="0"/>
            <a:t>Prompt </a:t>
          </a:r>
          <a:r>
            <a:rPr lang="zh-TW" sz="1500" kern="1200" dirty="0"/>
            <a:t>複製上下文（</a:t>
          </a:r>
          <a:r>
            <a:rPr lang="en-US" sz="1500" kern="1200" dirty="0"/>
            <a:t>Copying mechanism</a:t>
          </a:r>
          <a:r>
            <a:rPr lang="zh-TW" sz="1500" kern="1200" dirty="0"/>
            <a:t>）。當 </a:t>
          </a:r>
          <a:r>
            <a:rPr lang="en-US" sz="1500" kern="1200" dirty="0"/>
            <a:t>Prompt </a:t>
          </a:r>
          <a:r>
            <a:rPr lang="zh-TW" sz="1500" kern="1200" dirty="0"/>
            <a:t>包含舊詞（如 </a:t>
          </a:r>
          <a:r>
            <a:rPr lang="en-US" sz="1500" kern="1200" dirty="0"/>
            <a:t>"Taiwan"</a:t>
          </a:r>
          <a:r>
            <a:rPr lang="zh-TW" sz="1500" kern="1200" dirty="0"/>
            <a:t>）時，會與 </a:t>
          </a:r>
          <a:r>
            <a:rPr lang="en-US" sz="1500" kern="1200" dirty="0"/>
            <a:t>MLP </a:t>
          </a:r>
          <a:r>
            <a:rPr lang="zh-TW" sz="1500" kern="1200" dirty="0"/>
            <a:t>輸出的新知識（</a:t>
          </a:r>
          <a:r>
            <a:rPr lang="en-US" sz="1500" kern="1200" dirty="0"/>
            <a:t>"Japan"</a:t>
          </a:r>
          <a:r>
            <a:rPr lang="zh-TW" sz="1500" kern="1200" dirty="0"/>
            <a:t>）發生競爭，導致混合輸出。</a:t>
          </a:r>
          <a:endParaRPr lang="en-US" sz="1500" kern="1200" dirty="0"/>
        </a:p>
      </dsp:txBody>
      <dsp:txXfrm>
        <a:off x="1678407" y="3633536"/>
        <a:ext cx="6049859" cy="14531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38C996-7B2A-4EAD-B364-0164A6C4FBD4}" type="datetimeFigureOut">
              <a:rPr lang="zh-TW" altLang="en-US" smtClean="0"/>
              <a:t>2025/12/20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1E4D88-76E2-480F-B141-A3C62EFBB01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05096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1E4D88-76E2-480F-B141-A3C62EFBB014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73513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1E4D88-76E2-480F-B141-A3C62EFBB014}" type="slidenum">
              <a:rPr lang="zh-TW" altLang="en-US" smtClean="0"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134850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1E4D88-76E2-480F-B141-A3C62EFBB014}" type="slidenum">
              <a:rPr lang="zh-TW" altLang="en-US" smtClean="0"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90000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0403F-3343-4F1A-9892-4C5C0F99B473}" type="datetimeFigureOut">
              <a:rPr lang="zh-TW" altLang="en-US" smtClean="0"/>
              <a:t>2025/12/20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FD5E3-3A41-483E-B016-CF86430ED2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6761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0403F-3343-4F1A-9892-4C5C0F99B473}" type="datetimeFigureOut">
              <a:rPr lang="zh-TW" altLang="en-US" smtClean="0"/>
              <a:t>2025/12/20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FD5E3-3A41-483E-B016-CF86430ED2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30276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0403F-3343-4F1A-9892-4C5C0F99B473}" type="datetimeFigureOut">
              <a:rPr lang="zh-TW" altLang="en-US" smtClean="0"/>
              <a:t>2025/12/20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FD5E3-3A41-483E-B016-CF86430ED2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020567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0403F-3343-4F1A-9892-4C5C0F99B473}" type="datetimeFigureOut">
              <a:rPr lang="zh-TW" altLang="en-US" smtClean="0"/>
              <a:t>2025/12/20</a:t>
            </a:fld>
            <a:endParaRPr lang="zh-TW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FD5E3-3A41-483E-B016-CF86430ED2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63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0403F-3343-4F1A-9892-4C5C0F99B473}" type="datetimeFigureOut">
              <a:rPr lang="zh-TW" altLang="en-US" smtClean="0"/>
              <a:t>2025/12/20</a:t>
            </a:fld>
            <a:endParaRPr lang="zh-TW" alt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FD5E3-3A41-483E-B016-CF86430ED2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23220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0403F-3343-4F1A-9892-4C5C0F99B473}" type="datetimeFigureOut">
              <a:rPr lang="zh-TW" altLang="en-US" smtClean="0"/>
              <a:t>2025/12/20</a:t>
            </a:fld>
            <a:endParaRPr lang="zh-TW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FD5E3-3A41-483E-B016-CF86430ED2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36526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0403F-3343-4F1A-9892-4C5C0F99B473}" type="datetimeFigureOut">
              <a:rPr lang="zh-TW" altLang="en-US" smtClean="0"/>
              <a:t>2025/12/20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FD5E3-3A41-483E-B016-CF86430ED2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39520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0403F-3343-4F1A-9892-4C5C0F99B473}" type="datetimeFigureOut">
              <a:rPr lang="zh-TW" altLang="en-US" smtClean="0"/>
              <a:t>2025/12/20</a:t>
            </a:fld>
            <a:endParaRPr lang="zh-TW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FD5E3-3A41-483E-B016-CF86430ED2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33361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0403F-3343-4F1A-9892-4C5C0F99B473}" type="datetimeFigureOut">
              <a:rPr lang="zh-TW" altLang="en-US" smtClean="0"/>
              <a:t>2025/12/20</a:t>
            </a:fld>
            <a:endParaRPr lang="zh-TW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FD5E3-3A41-483E-B016-CF86430ED2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546258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0403F-3343-4F1A-9892-4C5C0F99B473}" type="datetimeFigureOut">
              <a:rPr lang="zh-TW" altLang="en-US" smtClean="0"/>
              <a:t>2025/12/20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FD5E3-3A41-483E-B016-CF86430ED2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28147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0403F-3343-4F1A-9892-4C5C0F99B473}" type="datetimeFigureOut">
              <a:rPr lang="zh-TW" altLang="en-US" smtClean="0"/>
              <a:t>2025/12/20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FD5E3-3A41-483E-B016-CF86430ED2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14725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9840403F-3343-4F1A-9892-4C5C0F99B473}" type="datetimeFigureOut">
              <a:rPr lang="zh-TW" altLang="en-US" smtClean="0"/>
              <a:t>2025/12/20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1FEFD5E3-3A41-483E-B016-CF86430ED2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49553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E52E7C2-7F25-6E21-3531-5A8D208984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35200"/>
            <a:ext cx="9144000" cy="2387600"/>
          </a:xfrm>
        </p:spPr>
        <p:txBody>
          <a:bodyPr anchor="ctr">
            <a:noAutofit/>
          </a:bodyPr>
          <a:lstStyle/>
          <a:p>
            <a:pPr algn="ctr"/>
            <a:r>
              <a:rPr lang="zh-TW" altLang="en-US" sz="4800" dirty="0"/>
              <a:t>使用</a:t>
            </a:r>
            <a:r>
              <a:rPr lang="en-US" altLang="zh-TW" sz="4800" dirty="0"/>
              <a:t>CMA</a:t>
            </a:r>
            <a:r>
              <a:rPr lang="zh-TW" altLang="en-US" sz="4800" dirty="0"/>
              <a:t>與</a:t>
            </a:r>
            <a:r>
              <a:rPr lang="en-US" altLang="zh-TW" sz="4800" dirty="0"/>
              <a:t>ROME</a:t>
            </a:r>
            <a:r>
              <a:rPr lang="zh-TW" altLang="en-US" sz="4800" dirty="0"/>
              <a:t>了解</a:t>
            </a:r>
            <a:r>
              <a:rPr lang="en-US" altLang="zh-TW" sz="4800" dirty="0"/>
              <a:t>LLM</a:t>
            </a:r>
            <a:r>
              <a:rPr lang="zh-TW" altLang="en-US" sz="4800" dirty="0"/>
              <a:t>是如何儲存和修改特定字詞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F0642CDF-784E-FDC9-6DFF-D32BFE807F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81160" y="3429000"/>
            <a:ext cx="2910840" cy="802640"/>
          </a:xfrm>
        </p:spPr>
        <p:txBody>
          <a:bodyPr/>
          <a:lstStyle/>
          <a:p>
            <a:r>
              <a:rPr lang="zh-TW" altLang="en-US" dirty="0">
                <a:solidFill>
                  <a:schemeClr val="tx1"/>
                </a:solidFill>
              </a:rPr>
              <a:t>演講人：廖祥恩</a:t>
            </a:r>
          </a:p>
        </p:txBody>
      </p:sp>
    </p:spTree>
    <p:extLst>
      <p:ext uri="{BB962C8B-B14F-4D97-AF65-F5344CB8AC3E}">
        <p14:creationId xmlns:p14="http://schemas.microsoft.com/office/powerpoint/2010/main" val="39690108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CE0D3C-5F25-C428-C0F5-FCB6FB3A6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參考資料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4912F8C-6870-59A2-808F-20A5CF05D9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本次報告將聚焦於</a:t>
            </a:r>
            <a:r>
              <a:rPr lang="en-US" altLang="zh-TW" dirty="0"/>
              <a:t>《Locating and Editing Factual Associations in GPT》</a:t>
            </a:r>
            <a:r>
              <a:rPr lang="zh-TW" altLang="en-US" dirty="0"/>
              <a:t>一文的分析，並特別針對「因果追蹤」與「</a:t>
            </a:r>
            <a:r>
              <a:rPr lang="en-US" altLang="zh-TW" dirty="0"/>
              <a:t>ROME</a:t>
            </a:r>
            <a:r>
              <a:rPr lang="zh-TW" altLang="en-US" dirty="0"/>
              <a:t>」兩項關鍵技術進行深入探討。</a:t>
            </a:r>
          </a:p>
        </p:txBody>
      </p:sp>
    </p:spTree>
    <p:extLst>
      <p:ext uri="{BB962C8B-B14F-4D97-AF65-F5344CB8AC3E}">
        <p14:creationId xmlns:p14="http://schemas.microsoft.com/office/powerpoint/2010/main" val="42883194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0681BF-D710-636F-1321-707703672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研究目的：</a:t>
            </a:r>
            <a:endParaRPr lang="zh-TW" altLang="en-US" dirty="0"/>
          </a:p>
        </p:txBody>
      </p:sp>
      <p:graphicFrame>
        <p:nvGraphicFramePr>
          <p:cNvPr id="21" name="內容版面配置區 2">
            <a:extLst>
              <a:ext uri="{FF2B5EF4-FFF2-40B4-BE49-F238E27FC236}">
                <a16:creationId xmlns:a16="http://schemas.microsoft.com/office/drawing/2014/main" id="{03627EB3-FD56-6601-1488-F9F4C7F396F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869268" y="864108"/>
          <a:ext cx="7315200" cy="5120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899322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652E5D6-E378-4614-BCBD-8663DD15B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287AC3-AACF-4ADB-9F73-125E714D93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993" y="4367639"/>
            <a:ext cx="11430014" cy="185218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DEC05F91-D3BB-8863-EF22-4DD783BCF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477" y="4599160"/>
            <a:ext cx="11079804" cy="1358020"/>
          </a:xfrm>
        </p:spPr>
        <p:txBody>
          <a:bodyPr anchor="ctr">
            <a:normAutofit/>
          </a:bodyPr>
          <a:lstStyle/>
          <a:p>
            <a:pPr algn="ctr"/>
            <a:r>
              <a:rPr lang="zh-TW" altLang="en-US" sz="4400">
                <a:solidFill>
                  <a:schemeClr val="bg1"/>
                </a:solidFill>
              </a:rPr>
              <a:t>研究方法</a:t>
            </a:r>
          </a:p>
        </p:txBody>
      </p:sp>
      <p:graphicFrame>
        <p:nvGraphicFramePr>
          <p:cNvPr id="5" name="內容版面配置區 2">
            <a:extLst>
              <a:ext uri="{FF2B5EF4-FFF2-40B4-BE49-F238E27FC236}">
                <a16:creationId xmlns:a16="http://schemas.microsoft.com/office/drawing/2014/main" id="{3C0AC3C5-5DDD-5E9D-9B98-B702688A34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53269031"/>
              </p:ext>
            </p:extLst>
          </p:nvPr>
        </p:nvGraphicFramePr>
        <p:xfrm>
          <a:off x="960120" y="640080"/>
          <a:ext cx="10271760" cy="32023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809364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F57429-19C0-7E81-671B-0FC8646D8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9DC5A77-10C9-4ECF-B7EB-8D917F3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FFE28B5-FB16-49A9-B851-3C35FAC0C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58952"/>
            <a:ext cx="10905976" cy="165113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5E86E4F9-5D33-BF6C-299E-4203DBC1E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754" y="1087374"/>
            <a:ext cx="8983489" cy="1000978"/>
          </a:xfrm>
        </p:spPr>
        <p:txBody>
          <a:bodyPr>
            <a:normAutofit/>
          </a:bodyPr>
          <a:lstStyle/>
          <a:p>
            <a:r>
              <a:rPr lang="zh-TW" altLang="en-US" dirty="0"/>
              <a:t>研究方法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014442-855A-4E0F-8D09-C314661A4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14533" y="758952"/>
            <a:ext cx="1185379" cy="1651133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B1ABF09-86CF-414E-88A5-2B84CC723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3" y="2526526"/>
            <a:ext cx="1169701" cy="3563378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FE91770-CDBB-4D24-94E5-AD484F36C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79019" y="2526526"/>
            <a:ext cx="10920893" cy="3563377"/>
          </a:xfrm>
          <a:prstGeom prst="rect">
            <a:avLst/>
          </a:prstGeom>
          <a:solidFill>
            <a:schemeClr val="bg2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649259E-8C2A-BFAE-C5E0-507529B241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0753" y="2535446"/>
            <a:ext cx="8983489" cy="3554457"/>
          </a:xfrm>
        </p:spPr>
        <p:txBody>
          <a:bodyPr>
            <a:normAutofit/>
          </a:bodyPr>
          <a:lstStyle/>
          <a:p>
            <a:r>
              <a:rPr lang="zh-TW" altLang="en-US" dirty="0">
                <a:solidFill>
                  <a:schemeClr val="tx1"/>
                </a:solidFill>
              </a:rPr>
              <a:t>我們需要先引入一些過去已研究過的結果作為前提：</a:t>
            </a:r>
            <a:endParaRPr lang="en-US" altLang="zh-TW" dirty="0">
              <a:solidFill>
                <a:schemeClr val="tx1"/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zh-TW" altLang="en-US" dirty="0">
                <a:solidFill>
                  <a:schemeClr val="tx1"/>
                </a:solidFill>
              </a:rPr>
              <a:t>輸入</a:t>
            </a:r>
            <a:r>
              <a:rPr lang="en-US" altLang="zh-TW" dirty="0">
                <a:solidFill>
                  <a:schemeClr val="tx1"/>
                </a:solidFill>
              </a:rPr>
              <a:t>(</a:t>
            </a:r>
            <a:r>
              <a:rPr lang="zh-TW" altLang="en-US" dirty="0">
                <a:solidFill>
                  <a:schemeClr val="tx1"/>
                </a:solidFill>
              </a:rPr>
              <a:t>鍵</a:t>
            </a:r>
            <a:r>
              <a:rPr lang="en-US" altLang="zh-TW" dirty="0">
                <a:solidFill>
                  <a:schemeClr val="tx1"/>
                </a:solidFill>
              </a:rPr>
              <a:t>,k)</a:t>
            </a:r>
            <a:r>
              <a:rPr lang="zh-TW" altLang="en-US" dirty="0">
                <a:solidFill>
                  <a:schemeClr val="tx1"/>
                </a:solidFill>
              </a:rPr>
              <a:t>和輸出</a:t>
            </a:r>
            <a:r>
              <a:rPr lang="en-US" altLang="zh-TW" dirty="0">
                <a:solidFill>
                  <a:schemeClr val="tx1"/>
                </a:solidFill>
              </a:rPr>
              <a:t>(</a:t>
            </a:r>
            <a:r>
              <a:rPr lang="zh-TW" altLang="en-US" dirty="0">
                <a:solidFill>
                  <a:schemeClr val="tx1"/>
                </a:solidFill>
              </a:rPr>
              <a:t>值</a:t>
            </a:r>
            <a:r>
              <a:rPr lang="en-US" altLang="zh-TW" dirty="0">
                <a:solidFill>
                  <a:schemeClr val="tx1"/>
                </a:solidFill>
              </a:rPr>
              <a:t>,v)</a:t>
            </a:r>
            <a:r>
              <a:rPr lang="zh-TW" altLang="en-US" dirty="0">
                <a:solidFill>
                  <a:schemeClr val="tx1"/>
                </a:solidFill>
              </a:rPr>
              <a:t>有以下關係：</a:t>
            </a:r>
            <a:endParaRPr lang="en-US" altLang="zh-TW" dirty="0">
              <a:solidFill>
                <a:schemeClr val="tx1"/>
              </a:solidFill>
            </a:endParaRPr>
          </a:p>
          <a:p>
            <a:pPr marL="914400" lvl="2" indent="0">
              <a:buNone/>
            </a:pPr>
            <a:r>
              <a:rPr lang="en-US" altLang="zh-TW" dirty="0">
                <a:solidFill>
                  <a:schemeClr val="tx1"/>
                </a:solidFill>
              </a:rPr>
              <a:t>W</a:t>
            </a:r>
            <a:r>
              <a:rPr lang="zh-TW" altLang="en-US" dirty="0">
                <a:solidFill>
                  <a:schemeClr val="tx1"/>
                </a:solidFill>
              </a:rPr>
              <a:t> * </a:t>
            </a:r>
            <a:r>
              <a:rPr lang="en-US" altLang="zh-TW" dirty="0">
                <a:solidFill>
                  <a:schemeClr val="tx1"/>
                </a:solidFill>
              </a:rPr>
              <a:t>k = v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altLang="zh-TW" dirty="0" err="1">
                <a:solidFill>
                  <a:schemeClr val="tx1"/>
                </a:solidFill>
              </a:rPr>
              <a:t>mlp</a:t>
            </a:r>
            <a:r>
              <a:rPr lang="zh-TW" altLang="en-US" dirty="0">
                <a:solidFill>
                  <a:schemeClr val="tx1"/>
                </a:solidFill>
              </a:rPr>
              <a:t> 層對於事實影響較</a:t>
            </a:r>
            <a:r>
              <a:rPr lang="en-US" altLang="zh-TW" dirty="0">
                <a:solidFill>
                  <a:schemeClr val="tx1"/>
                </a:solidFill>
              </a:rPr>
              <a:t>attention </a:t>
            </a:r>
            <a:r>
              <a:rPr lang="zh-TW" altLang="en-US" dirty="0">
                <a:solidFill>
                  <a:schemeClr val="tx1"/>
                </a:solidFill>
              </a:rPr>
              <a:t>層大得多</a:t>
            </a:r>
            <a:endParaRPr lang="en-US" altLang="zh-TW" dirty="0">
              <a:solidFill>
                <a:schemeClr val="tx1"/>
              </a:solidFill>
            </a:endParaRPr>
          </a:p>
          <a:p>
            <a:pPr marL="971550" lvl="1" indent="-514350">
              <a:buFont typeface="+mj-lt"/>
              <a:buAutoNum type="arabicPeriod"/>
            </a:pPr>
            <a:r>
              <a:rPr lang="zh-TW" altLang="en-US" dirty="0">
                <a:solidFill>
                  <a:schemeClr val="tx1"/>
                </a:solidFill>
              </a:rPr>
              <a:t>事實的存儲只在特定的</a:t>
            </a:r>
            <a:r>
              <a:rPr lang="en-US" altLang="zh-TW" dirty="0">
                <a:solidFill>
                  <a:schemeClr val="tx1"/>
                </a:solidFill>
              </a:rPr>
              <a:t>middle layer</a:t>
            </a:r>
          </a:p>
          <a:p>
            <a:pPr marL="971550" lvl="1" indent="-514350">
              <a:buFont typeface="+mj-lt"/>
              <a:buAutoNum type="arabicPeriod"/>
            </a:pPr>
            <a:r>
              <a:rPr lang="zh-TW" altLang="en-US" dirty="0">
                <a:solidFill>
                  <a:schemeClr val="tx1"/>
                </a:solidFill>
              </a:rPr>
              <a:t>事實的影響只會透過輸入的</a:t>
            </a:r>
            <a:r>
              <a:rPr lang="en-US" altLang="zh-TW" dirty="0">
                <a:solidFill>
                  <a:schemeClr val="tx1"/>
                </a:solidFill>
              </a:rPr>
              <a:t>last token </a:t>
            </a:r>
            <a:r>
              <a:rPr lang="zh-TW" altLang="en-US" dirty="0">
                <a:solidFill>
                  <a:schemeClr val="tx1"/>
                </a:solidFill>
              </a:rPr>
              <a:t>影響</a:t>
            </a:r>
            <a:endParaRPr lang="en-US" altLang="zh-TW" dirty="0">
              <a:solidFill>
                <a:schemeClr val="tx1"/>
              </a:solidFill>
            </a:endParaRPr>
          </a:p>
        </p:txBody>
      </p:sp>
      <p:pic>
        <p:nvPicPr>
          <p:cNvPr id="5" name="圖片 4" descr="一張含有 圖表, 行, 鮮豔, 繪圖 的圖片&#10;&#10;AI 產生的內容可能不正確。">
            <a:extLst>
              <a:ext uri="{FF2B5EF4-FFF2-40B4-BE49-F238E27FC236}">
                <a16:creationId xmlns:a16="http://schemas.microsoft.com/office/drawing/2014/main" id="{BE0FDD18-ECB0-F26A-D1CB-5FA776F59A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7770" y="3429000"/>
            <a:ext cx="2343477" cy="647790"/>
          </a:xfrm>
          <a:prstGeom prst="rect">
            <a:avLst/>
          </a:prstGeom>
        </p:spPr>
      </p:pic>
      <p:pic>
        <p:nvPicPr>
          <p:cNvPr id="7" name="圖片 6" descr="一張含有 文字, 字型, 圖表, 設計 的圖片&#10;&#10;AI 產生的內容可能不正確。">
            <a:extLst>
              <a:ext uri="{FF2B5EF4-FFF2-40B4-BE49-F238E27FC236}">
                <a16:creationId xmlns:a16="http://schemas.microsoft.com/office/drawing/2014/main" id="{135FEADA-59B1-64E9-5C6A-348218DD7A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1747" y="3429000"/>
            <a:ext cx="834141" cy="647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12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5DB23C2B-2054-4D8B-9E98-9190F8E05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8797B5BC-9873-45F9-97D6-298FB5AF08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762000"/>
            <a:ext cx="4208489" cy="5334001"/>
          </a:xfrm>
          <a:custGeom>
            <a:avLst/>
            <a:gdLst>
              <a:gd name="connsiteX0" fmla="*/ 1015642 w 4208489"/>
              <a:gd name="connsiteY0" fmla="*/ 0 h 5334001"/>
              <a:gd name="connsiteX1" fmla="*/ 4208489 w 4208489"/>
              <a:gd name="connsiteY1" fmla="*/ 0 h 5334001"/>
              <a:gd name="connsiteX2" fmla="*/ 4208489 w 4208489"/>
              <a:gd name="connsiteY2" fmla="*/ 5334001 h 5334001"/>
              <a:gd name="connsiteX3" fmla="*/ 0 w 4208489"/>
              <a:gd name="connsiteY3" fmla="*/ 5334001 h 5334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8489" h="5334001">
                <a:moveTo>
                  <a:pt x="1015642" y="0"/>
                </a:moveTo>
                <a:lnTo>
                  <a:pt x="4208489" y="0"/>
                </a:lnTo>
                <a:lnTo>
                  <a:pt x="4208489" y="5334001"/>
                </a:lnTo>
                <a:lnTo>
                  <a:pt x="0" y="533400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8D725A15-CA9D-694B-01C3-FBCA09B01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260" y="1683144"/>
            <a:ext cx="2774922" cy="3491712"/>
          </a:xfrm>
        </p:spPr>
        <p:txBody>
          <a:bodyPr>
            <a:normAutofit/>
          </a:bodyPr>
          <a:lstStyle/>
          <a:p>
            <a:r>
              <a:rPr lang="zh-TW" altLang="en-US"/>
              <a:t>研究方法</a:t>
            </a:r>
          </a:p>
        </p:txBody>
      </p:sp>
      <p:sp>
        <p:nvSpPr>
          <p:cNvPr id="28" name="內容版面配置區 2">
            <a:extLst>
              <a:ext uri="{FF2B5EF4-FFF2-40B4-BE49-F238E27FC236}">
                <a16:creationId xmlns:a16="http://schemas.microsoft.com/office/drawing/2014/main" id="{4C1453D3-61BF-856E-CE7C-A37C248A96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61606" y="1683143"/>
            <a:ext cx="6627377" cy="3491713"/>
          </a:xfrm>
        </p:spPr>
        <p:txBody>
          <a:bodyPr>
            <a:normAutofit/>
          </a:bodyPr>
          <a:lstStyle/>
          <a:p>
            <a:r>
              <a:rPr lang="zh-TW" altLang="en-US" dirty="0"/>
              <a:t>什麼是「因果追蹤</a:t>
            </a:r>
            <a:r>
              <a:rPr lang="en-US" altLang="zh-TW" dirty="0"/>
              <a:t>(causal tracing)</a:t>
            </a:r>
            <a:r>
              <a:rPr lang="zh-TW" altLang="en-US" dirty="0"/>
              <a:t>」</a:t>
            </a:r>
            <a:endParaRPr lang="en-US" altLang="zh-TW" dirty="0"/>
          </a:p>
          <a:p>
            <a:r>
              <a:rPr lang="zh-TW" altLang="en-US" dirty="0"/>
              <a:t>核心目標</a:t>
            </a:r>
            <a:endParaRPr lang="en-US" altLang="zh-TW" dirty="0"/>
          </a:p>
          <a:p>
            <a:r>
              <a:rPr lang="zh-TW" altLang="en-US" dirty="0"/>
              <a:t>首先，找出實際上輸入</a:t>
            </a:r>
            <a:r>
              <a:rPr lang="en-US" altLang="zh-TW" dirty="0"/>
              <a:t>(</a:t>
            </a:r>
            <a:r>
              <a:rPr lang="zh-TW" altLang="en-US" dirty="0"/>
              <a:t>鍵</a:t>
            </a:r>
            <a:r>
              <a:rPr lang="en-US" altLang="zh-TW" dirty="0"/>
              <a:t>)</a:t>
            </a:r>
            <a:r>
              <a:rPr lang="zh-TW" altLang="en-US" dirty="0"/>
              <a:t>哪個部分以及整個</a:t>
            </a:r>
            <a:r>
              <a:rPr lang="en-US" altLang="zh-TW" dirty="0"/>
              <a:t>transformer</a:t>
            </a:r>
            <a:r>
              <a:rPr lang="zh-TW" altLang="en-US" dirty="0"/>
              <a:t>模組哪一層哪個部分對於輸出</a:t>
            </a:r>
            <a:r>
              <a:rPr lang="en-US" altLang="zh-TW" dirty="0"/>
              <a:t>(</a:t>
            </a:r>
            <a:r>
              <a:rPr lang="zh-TW" altLang="en-US" dirty="0"/>
              <a:t>事實</a:t>
            </a:r>
            <a:r>
              <a:rPr lang="en-US" altLang="zh-TW" dirty="0"/>
              <a:t>)</a:t>
            </a:r>
            <a:r>
              <a:rPr lang="zh-TW" altLang="en-US" dirty="0"/>
              <a:t>影響最大。</a:t>
            </a:r>
            <a:endParaRPr lang="en-US" altLang="zh-TW" dirty="0"/>
          </a:p>
          <a:p>
            <a:r>
              <a:rPr lang="zh-TW" altLang="en-US" dirty="0"/>
              <a:t>如：「巴黎在法國」這個句子最後一個</a:t>
            </a:r>
            <a:r>
              <a:rPr lang="en-US" altLang="zh-TW" dirty="0"/>
              <a:t>token </a:t>
            </a:r>
            <a:r>
              <a:rPr lang="zh-TW" altLang="en-US" dirty="0"/>
              <a:t>以及</a:t>
            </a:r>
            <a:r>
              <a:rPr lang="en-US" altLang="zh-TW" dirty="0"/>
              <a:t>transformer</a:t>
            </a:r>
            <a:r>
              <a:rPr lang="zh-TW" altLang="en-US" dirty="0"/>
              <a:t>模組第</a:t>
            </a:r>
            <a:r>
              <a:rPr lang="en-US" altLang="zh-TW" dirty="0"/>
              <a:t>18</a:t>
            </a:r>
            <a:r>
              <a:rPr lang="zh-TW" altLang="en-US" dirty="0"/>
              <a:t>層對於輸出影響最大</a:t>
            </a:r>
            <a:endParaRPr lang="en-US" altLang="zh-TW" dirty="0"/>
          </a:p>
          <a:p>
            <a:r>
              <a:rPr lang="zh-TW" altLang="en-US" dirty="0"/>
              <a:t>簡言之，我們希望不要盲目尋找，而是透過分析哪個部份對於最後輸出的事實影響力最大，而後針對那個部分做</a:t>
            </a:r>
            <a:r>
              <a:rPr lang="en-US" altLang="zh-TW" dirty="0"/>
              <a:t>ROME</a:t>
            </a:r>
            <a:r>
              <a:rPr lang="zh-TW" altLang="en-US" dirty="0"/>
              <a:t>即可。</a:t>
            </a:r>
            <a:endParaRPr lang="en-US" altLang="zh-TW" dirty="0"/>
          </a:p>
          <a:p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zh-TW" altLang="en-US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665C2FCD-09A4-4B4B-AA73-F330DFE91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1190517" y="1056875"/>
            <a:ext cx="1001483" cy="4744251"/>
          </a:xfrm>
          <a:custGeom>
            <a:avLst/>
            <a:gdLst>
              <a:gd name="connsiteX0" fmla="*/ 0 w 1001483"/>
              <a:gd name="connsiteY0" fmla="*/ 0 h 4744251"/>
              <a:gd name="connsiteX1" fmla="*/ 1001483 w 1001483"/>
              <a:gd name="connsiteY1" fmla="*/ 0 h 4744251"/>
              <a:gd name="connsiteX2" fmla="*/ 0 w 1001483"/>
              <a:gd name="connsiteY2" fmla="*/ 4744251 h 4744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01483" h="4744251">
                <a:moveTo>
                  <a:pt x="0" y="0"/>
                </a:moveTo>
                <a:lnTo>
                  <a:pt x="1001483" y="0"/>
                </a:lnTo>
                <a:lnTo>
                  <a:pt x="0" y="474425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62896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5210AE-9C6D-F44E-E3A8-94C537997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DB23C2B-2054-4D8B-9E98-9190F8E05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797B5BC-9873-45F9-97D6-298FB5AF08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762000"/>
            <a:ext cx="4208489" cy="5334001"/>
          </a:xfrm>
          <a:custGeom>
            <a:avLst/>
            <a:gdLst>
              <a:gd name="connsiteX0" fmla="*/ 1015642 w 4208489"/>
              <a:gd name="connsiteY0" fmla="*/ 0 h 5334001"/>
              <a:gd name="connsiteX1" fmla="*/ 4208489 w 4208489"/>
              <a:gd name="connsiteY1" fmla="*/ 0 h 5334001"/>
              <a:gd name="connsiteX2" fmla="*/ 4208489 w 4208489"/>
              <a:gd name="connsiteY2" fmla="*/ 5334001 h 5334001"/>
              <a:gd name="connsiteX3" fmla="*/ 0 w 4208489"/>
              <a:gd name="connsiteY3" fmla="*/ 5334001 h 5334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8489" h="5334001">
                <a:moveTo>
                  <a:pt x="1015642" y="0"/>
                </a:moveTo>
                <a:lnTo>
                  <a:pt x="4208489" y="0"/>
                </a:lnTo>
                <a:lnTo>
                  <a:pt x="4208489" y="5334001"/>
                </a:lnTo>
                <a:lnTo>
                  <a:pt x="0" y="533400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1E8128D3-2C12-EE80-D836-4A5097316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260" y="1683144"/>
            <a:ext cx="2774922" cy="3491712"/>
          </a:xfrm>
        </p:spPr>
        <p:txBody>
          <a:bodyPr>
            <a:normAutofit/>
          </a:bodyPr>
          <a:lstStyle/>
          <a:p>
            <a:r>
              <a:rPr lang="zh-TW" altLang="en-US" dirty="0"/>
              <a:t>研究方法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81F25B3-C41F-1AD3-4C46-D71F554C4C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61606" y="1683143"/>
            <a:ext cx="6627377" cy="3491713"/>
          </a:xfrm>
        </p:spPr>
        <p:txBody>
          <a:bodyPr>
            <a:normAutofit/>
          </a:bodyPr>
          <a:lstStyle/>
          <a:p>
            <a:r>
              <a:rPr lang="zh-TW" altLang="en-US" dirty="0"/>
              <a:t>「因果追蹤</a:t>
            </a:r>
            <a:r>
              <a:rPr lang="en-US" altLang="zh-TW" dirty="0"/>
              <a:t>(causal tracing)</a:t>
            </a:r>
            <a:r>
              <a:rPr lang="zh-TW" altLang="en-US" dirty="0"/>
              <a:t>」</a:t>
            </a:r>
            <a:endParaRPr lang="en-US" altLang="zh-TW" dirty="0"/>
          </a:p>
          <a:p>
            <a:r>
              <a:rPr lang="zh-TW" altLang="en-US" dirty="0"/>
              <a:t>運作原理</a:t>
            </a:r>
            <a:endParaRPr lang="en-US" altLang="zh-TW" dirty="0"/>
          </a:p>
          <a:p>
            <a:r>
              <a:rPr lang="zh-TW" altLang="en-US" dirty="0"/>
              <a:t>第一步：我們先不對輸入做任何干擾作為對照組</a:t>
            </a:r>
            <a:endParaRPr lang="en-US" altLang="zh-TW" dirty="0"/>
          </a:p>
          <a:p>
            <a:r>
              <a:rPr lang="zh-TW" altLang="en-US" dirty="0"/>
              <a:t>第二步：我們對輸入的主詞加入雜訊，並且不修復</a:t>
            </a:r>
            <a:r>
              <a:rPr lang="en-US" altLang="zh-TW" dirty="0"/>
              <a:t>(</a:t>
            </a:r>
            <a:r>
              <a:rPr lang="zh-TW" altLang="en-US" dirty="0"/>
              <a:t>把正確答案替換進去</a:t>
            </a:r>
            <a:r>
              <a:rPr lang="en-US" altLang="zh-TW" dirty="0"/>
              <a:t>)</a:t>
            </a:r>
            <a:r>
              <a:rPr lang="zh-TW" altLang="en-US" dirty="0"/>
              <a:t>任何的</a:t>
            </a:r>
            <a:r>
              <a:rPr lang="en-US" altLang="zh-TW" dirty="0"/>
              <a:t>MLP</a:t>
            </a:r>
            <a:r>
              <a:rPr lang="zh-TW" altLang="en-US" dirty="0"/>
              <a:t>層。</a:t>
            </a:r>
            <a:endParaRPr lang="en-US" altLang="zh-TW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65C2FCD-09A4-4B4B-AA73-F330DFE91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1190517" y="1056875"/>
            <a:ext cx="1001483" cy="4744251"/>
          </a:xfrm>
          <a:custGeom>
            <a:avLst/>
            <a:gdLst>
              <a:gd name="connsiteX0" fmla="*/ 0 w 1001483"/>
              <a:gd name="connsiteY0" fmla="*/ 0 h 4744251"/>
              <a:gd name="connsiteX1" fmla="*/ 1001483 w 1001483"/>
              <a:gd name="connsiteY1" fmla="*/ 0 h 4744251"/>
              <a:gd name="connsiteX2" fmla="*/ 0 w 1001483"/>
              <a:gd name="connsiteY2" fmla="*/ 4744251 h 4744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01483" h="4744251">
                <a:moveTo>
                  <a:pt x="0" y="0"/>
                </a:moveTo>
                <a:lnTo>
                  <a:pt x="1001483" y="0"/>
                </a:lnTo>
                <a:lnTo>
                  <a:pt x="0" y="474425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369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4AB7F7-DA52-29FB-9C7D-700E52A1E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DB23C2B-2054-4D8B-9E98-9190F8E05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797B5BC-9873-45F9-97D6-298FB5AF08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762000"/>
            <a:ext cx="4208489" cy="5334001"/>
          </a:xfrm>
          <a:custGeom>
            <a:avLst/>
            <a:gdLst>
              <a:gd name="connsiteX0" fmla="*/ 1015642 w 4208489"/>
              <a:gd name="connsiteY0" fmla="*/ 0 h 5334001"/>
              <a:gd name="connsiteX1" fmla="*/ 4208489 w 4208489"/>
              <a:gd name="connsiteY1" fmla="*/ 0 h 5334001"/>
              <a:gd name="connsiteX2" fmla="*/ 4208489 w 4208489"/>
              <a:gd name="connsiteY2" fmla="*/ 5334001 h 5334001"/>
              <a:gd name="connsiteX3" fmla="*/ 0 w 4208489"/>
              <a:gd name="connsiteY3" fmla="*/ 5334001 h 5334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8489" h="5334001">
                <a:moveTo>
                  <a:pt x="1015642" y="0"/>
                </a:moveTo>
                <a:lnTo>
                  <a:pt x="4208489" y="0"/>
                </a:lnTo>
                <a:lnTo>
                  <a:pt x="4208489" y="5334001"/>
                </a:lnTo>
                <a:lnTo>
                  <a:pt x="0" y="533400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A2A4C9A9-92FA-FE9C-84BA-23D793BCC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260" y="1683144"/>
            <a:ext cx="2774922" cy="3491712"/>
          </a:xfrm>
        </p:spPr>
        <p:txBody>
          <a:bodyPr>
            <a:normAutofit/>
          </a:bodyPr>
          <a:lstStyle/>
          <a:p>
            <a:r>
              <a:rPr lang="zh-TW" altLang="en-US" dirty="0"/>
              <a:t>研究方法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110E322-C8DF-FA80-CF58-F25EBB574C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61606" y="1683143"/>
            <a:ext cx="6627377" cy="3491713"/>
          </a:xfrm>
        </p:spPr>
        <p:txBody>
          <a:bodyPr>
            <a:normAutofit/>
          </a:bodyPr>
          <a:lstStyle/>
          <a:p>
            <a:r>
              <a:rPr lang="zh-TW" altLang="en-US" dirty="0"/>
              <a:t>「因果追蹤</a:t>
            </a:r>
            <a:r>
              <a:rPr lang="en-US" altLang="zh-TW" dirty="0"/>
              <a:t>(causal tracing)</a:t>
            </a:r>
            <a:r>
              <a:rPr lang="zh-TW" altLang="en-US" dirty="0"/>
              <a:t>」</a:t>
            </a:r>
            <a:endParaRPr lang="en-US" altLang="zh-TW" dirty="0"/>
          </a:p>
          <a:p>
            <a:r>
              <a:rPr lang="zh-TW" altLang="en-US" dirty="0"/>
              <a:t>運作原理</a:t>
            </a:r>
            <a:endParaRPr lang="en-US" altLang="zh-TW" dirty="0"/>
          </a:p>
          <a:p>
            <a:r>
              <a:rPr lang="zh-TW" altLang="en-US" dirty="0"/>
              <a:t>第三步：我們對輸入的主詞加入雜訊，接下來跑完整個</a:t>
            </a:r>
            <a:r>
              <a:rPr lang="en-US" altLang="zh-TW" dirty="0"/>
              <a:t>transform </a:t>
            </a:r>
            <a:r>
              <a:rPr lang="zh-TW" altLang="en-US" dirty="0"/>
              <a:t>模型，直到我們要觀察的層數。我們會對這個要觀察的</a:t>
            </a:r>
            <a:r>
              <a:rPr lang="en-US" altLang="zh-TW" dirty="0"/>
              <a:t>MLP</a:t>
            </a:r>
            <a:r>
              <a:rPr lang="zh-TW" altLang="en-US" dirty="0"/>
              <a:t>層，將這層輸出的向量替換成第一步相同層數對應到的向量</a:t>
            </a:r>
            <a:r>
              <a:rPr lang="en-US" altLang="zh-TW" dirty="0"/>
              <a:t>(</a:t>
            </a:r>
            <a:r>
              <a:rPr lang="zh-TW" altLang="en-US" dirty="0"/>
              <a:t>也就是把錯的答案換成對的</a:t>
            </a:r>
            <a:r>
              <a:rPr lang="en-US" altLang="zh-TW" dirty="0"/>
              <a:t>)</a:t>
            </a:r>
            <a:r>
              <a:rPr lang="zh-TW" altLang="en-US" dirty="0"/>
              <a:t>，最後看輸出時得到正確答案的機率為多少，我們即可以得到他與第一步對照組的差別。</a:t>
            </a:r>
            <a:endParaRPr lang="en-US" altLang="zh-TW" dirty="0"/>
          </a:p>
          <a:p>
            <a:r>
              <a:rPr lang="zh-TW" altLang="en-US" dirty="0"/>
              <a:t>第四步：我們將第三步得到的機率減去第二步的機率，則可以得到哪一層對於最後答案影響最大。</a:t>
            </a:r>
            <a:endParaRPr lang="en-US" altLang="zh-TW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65C2FCD-09A4-4B4B-AA73-F330DFE91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1190517" y="1056875"/>
            <a:ext cx="1001483" cy="4744251"/>
          </a:xfrm>
          <a:custGeom>
            <a:avLst/>
            <a:gdLst>
              <a:gd name="connsiteX0" fmla="*/ 0 w 1001483"/>
              <a:gd name="connsiteY0" fmla="*/ 0 h 4744251"/>
              <a:gd name="connsiteX1" fmla="*/ 1001483 w 1001483"/>
              <a:gd name="connsiteY1" fmla="*/ 0 h 4744251"/>
              <a:gd name="connsiteX2" fmla="*/ 0 w 1001483"/>
              <a:gd name="connsiteY2" fmla="*/ 4744251 h 4744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01483" h="4744251">
                <a:moveTo>
                  <a:pt x="0" y="0"/>
                </a:moveTo>
                <a:lnTo>
                  <a:pt x="1001483" y="0"/>
                </a:lnTo>
                <a:lnTo>
                  <a:pt x="0" y="474425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795658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3539E4-809C-EACA-E21A-F5FF03588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DB23C2B-2054-4D8B-9E98-9190F8E05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797B5BC-9873-45F9-97D6-298FB5AF08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762000"/>
            <a:ext cx="4208489" cy="5334001"/>
          </a:xfrm>
          <a:custGeom>
            <a:avLst/>
            <a:gdLst>
              <a:gd name="connsiteX0" fmla="*/ 1015642 w 4208489"/>
              <a:gd name="connsiteY0" fmla="*/ 0 h 5334001"/>
              <a:gd name="connsiteX1" fmla="*/ 4208489 w 4208489"/>
              <a:gd name="connsiteY1" fmla="*/ 0 h 5334001"/>
              <a:gd name="connsiteX2" fmla="*/ 4208489 w 4208489"/>
              <a:gd name="connsiteY2" fmla="*/ 5334001 h 5334001"/>
              <a:gd name="connsiteX3" fmla="*/ 0 w 4208489"/>
              <a:gd name="connsiteY3" fmla="*/ 5334001 h 5334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8489" h="5334001">
                <a:moveTo>
                  <a:pt x="1015642" y="0"/>
                </a:moveTo>
                <a:lnTo>
                  <a:pt x="4208489" y="0"/>
                </a:lnTo>
                <a:lnTo>
                  <a:pt x="4208489" y="5334001"/>
                </a:lnTo>
                <a:lnTo>
                  <a:pt x="0" y="533400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6A709349-EBDB-4BD1-D74A-FB30B48C8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260" y="1683144"/>
            <a:ext cx="2774922" cy="3491712"/>
          </a:xfrm>
        </p:spPr>
        <p:txBody>
          <a:bodyPr>
            <a:normAutofit/>
          </a:bodyPr>
          <a:lstStyle/>
          <a:p>
            <a:r>
              <a:rPr lang="zh-TW" altLang="en-US" dirty="0"/>
              <a:t>研究方法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DB73C86-D9D0-59BF-7883-E9ACA480EA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61606" y="1683143"/>
            <a:ext cx="6627377" cy="3491713"/>
          </a:xfrm>
        </p:spPr>
        <p:txBody>
          <a:bodyPr>
            <a:normAutofit/>
          </a:bodyPr>
          <a:lstStyle/>
          <a:p>
            <a:r>
              <a:rPr lang="zh-TW" altLang="en-US" dirty="0"/>
              <a:t>「因果追蹤</a:t>
            </a:r>
            <a:r>
              <a:rPr lang="en-US" altLang="zh-TW" dirty="0"/>
              <a:t>(causal tracing)</a:t>
            </a:r>
            <a:r>
              <a:rPr lang="zh-TW" altLang="en-US" dirty="0"/>
              <a:t>」</a:t>
            </a:r>
            <a:endParaRPr lang="en-US" altLang="zh-TW" dirty="0"/>
          </a:p>
          <a:p>
            <a:r>
              <a:rPr lang="zh-TW" altLang="en-US" dirty="0"/>
              <a:t>運作原理</a:t>
            </a:r>
            <a:endParaRPr lang="en-US" altLang="zh-TW" dirty="0"/>
          </a:p>
          <a:p>
            <a:r>
              <a:rPr lang="zh-TW" altLang="en-US" dirty="0"/>
              <a:t>結果：我們得到是哪一層</a:t>
            </a:r>
            <a:r>
              <a:rPr lang="en-US" altLang="zh-TW" dirty="0"/>
              <a:t>MLP</a:t>
            </a:r>
            <a:r>
              <a:rPr lang="zh-TW" altLang="en-US" dirty="0"/>
              <a:t>對於輸出</a:t>
            </a:r>
            <a:r>
              <a:rPr lang="en-US" altLang="zh-TW" dirty="0"/>
              <a:t>(v)</a:t>
            </a:r>
            <a:r>
              <a:rPr lang="zh-TW" altLang="en-US" dirty="0"/>
              <a:t>的影響最大。</a:t>
            </a:r>
            <a:endParaRPr lang="en-US" altLang="zh-TW" dirty="0"/>
          </a:p>
          <a:p>
            <a:r>
              <a:rPr lang="zh-TW" altLang="en-US" dirty="0"/>
              <a:t>因此，我們可以對那一層挑出來的</a:t>
            </a:r>
            <a:r>
              <a:rPr lang="en-US" altLang="zh-TW" dirty="0"/>
              <a:t>MLP</a:t>
            </a:r>
            <a:r>
              <a:rPr lang="zh-TW" altLang="en-US" dirty="0"/>
              <a:t>做</a:t>
            </a:r>
            <a:r>
              <a:rPr lang="en-US" altLang="zh-TW" dirty="0"/>
              <a:t>ROME</a:t>
            </a:r>
            <a:r>
              <a:rPr lang="zh-TW" altLang="en-US" dirty="0"/>
              <a:t>即可。</a:t>
            </a:r>
            <a:endParaRPr lang="en-US" altLang="zh-TW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65C2FCD-09A4-4B4B-AA73-F330DFE91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1190517" y="1056875"/>
            <a:ext cx="1001483" cy="4744251"/>
          </a:xfrm>
          <a:custGeom>
            <a:avLst/>
            <a:gdLst>
              <a:gd name="connsiteX0" fmla="*/ 0 w 1001483"/>
              <a:gd name="connsiteY0" fmla="*/ 0 h 4744251"/>
              <a:gd name="connsiteX1" fmla="*/ 1001483 w 1001483"/>
              <a:gd name="connsiteY1" fmla="*/ 0 h 4744251"/>
              <a:gd name="connsiteX2" fmla="*/ 0 w 1001483"/>
              <a:gd name="connsiteY2" fmla="*/ 4744251 h 4744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01483" h="4744251">
                <a:moveTo>
                  <a:pt x="0" y="0"/>
                </a:moveTo>
                <a:lnTo>
                  <a:pt x="1001483" y="0"/>
                </a:lnTo>
                <a:lnTo>
                  <a:pt x="0" y="474425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21594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7BF8DE-9CE9-419B-AD23-D8806A70C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49">
            <a:extLst>
              <a:ext uri="{FF2B5EF4-FFF2-40B4-BE49-F238E27FC236}">
                <a16:creationId xmlns:a16="http://schemas.microsoft.com/office/drawing/2014/main" id="{5DB23C2B-2054-4D8B-9E98-9190F8E05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8797B5BC-9873-45F9-97D6-298FB5AF08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762000"/>
            <a:ext cx="4208489" cy="5334001"/>
          </a:xfrm>
          <a:custGeom>
            <a:avLst/>
            <a:gdLst>
              <a:gd name="connsiteX0" fmla="*/ 1015642 w 4208489"/>
              <a:gd name="connsiteY0" fmla="*/ 0 h 5334001"/>
              <a:gd name="connsiteX1" fmla="*/ 4208489 w 4208489"/>
              <a:gd name="connsiteY1" fmla="*/ 0 h 5334001"/>
              <a:gd name="connsiteX2" fmla="*/ 4208489 w 4208489"/>
              <a:gd name="connsiteY2" fmla="*/ 5334001 h 5334001"/>
              <a:gd name="connsiteX3" fmla="*/ 0 w 4208489"/>
              <a:gd name="connsiteY3" fmla="*/ 5334001 h 5334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8489" h="5334001">
                <a:moveTo>
                  <a:pt x="1015642" y="0"/>
                </a:moveTo>
                <a:lnTo>
                  <a:pt x="4208489" y="0"/>
                </a:lnTo>
                <a:lnTo>
                  <a:pt x="4208489" y="5334001"/>
                </a:lnTo>
                <a:lnTo>
                  <a:pt x="0" y="533400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992282B7-E230-B47F-A244-FBBE1F56C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260" y="1683144"/>
            <a:ext cx="2774922" cy="3491712"/>
          </a:xfrm>
        </p:spPr>
        <p:txBody>
          <a:bodyPr>
            <a:normAutofit/>
          </a:bodyPr>
          <a:lstStyle/>
          <a:p>
            <a:r>
              <a:rPr lang="zh-TW" altLang="en-US"/>
              <a:t>研究方法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7030166-1612-E716-C9CB-75B900D0CE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61606" y="1683143"/>
            <a:ext cx="6627377" cy="3491713"/>
          </a:xfrm>
        </p:spPr>
        <p:txBody>
          <a:bodyPr>
            <a:normAutofit/>
          </a:bodyPr>
          <a:lstStyle/>
          <a:p>
            <a:r>
              <a:rPr lang="zh-TW" altLang="en-US"/>
              <a:t>什麼是「</a:t>
            </a:r>
            <a:r>
              <a:rPr lang="en-US" altLang="zh-TW"/>
              <a:t>ROME(rank-one model editing)</a:t>
            </a:r>
            <a:r>
              <a:rPr lang="zh-TW" altLang="en-US"/>
              <a:t>」</a:t>
            </a:r>
            <a:endParaRPr lang="en-US" altLang="zh-TW"/>
          </a:p>
          <a:p>
            <a:r>
              <a:rPr lang="zh-TW" altLang="en-US"/>
              <a:t>核心目標</a:t>
            </a:r>
          </a:p>
          <a:p>
            <a:r>
              <a:rPr lang="zh-TW" altLang="en-US"/>
              <a:t>    </a:t>
            </a:r>
            <a:r>
              <a:rPr lang="en-US" altLang="zh-TW"/>
              <a:t>ROME </a:t>
            </a:r>
            <a:r>
              <a:rPr lang="zh-TW" altLang="en-US"/>
              <a:t>的目的是在不重新訓練整個模型的情況下，直接「外科手術式」地修改模型內部的某個具體知識。</a:t>
            </a:r>
          </a:p>
          <a:p>
            <a:r>
              <a:rPr lang="zh-TW" altLang="en-US"/>
              <a:t>    例子：如果模型認為「艾菲爾鐵塔在羅馬」（錯誤事實），我們想將其修正為「艾菲爾鐵塔在巴黎」，或者反過來進行反事實編輯（如讓模型認為鐵塔在羅馬）。</a:t>
            </a:r>
            <a:endParaRPr lang="en-US" altLang="zh-TW"/>
          </a:p>
          <a:p>
            <a:pPr marL="0" indent="0">
              <a:buNone/>
            </a:pPr>
            <a:endParaRPr lang="zh-TW" altLang="en-US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665C2FCD-09A4-4B4B-AA73-F330DFE91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1190517" y="1056875"/>
            <a:ext cx="1001483" cy="4744251"/>
          </a:xfrm>
          <a:custGeom>
            <a:avLst/>
            <a:gdLst>
              <a:gd name="connsiteX0" fmla="*/ 0 w 1001483"/>
              <a:gd name="connsiteY0" fmla="*/ 0 h 4744251"/>
              <a:gd name="connsiteX1" fmla="*/ 1001483 w 1001483"/>
              <a:gd name="connsiteY1" fmla="*/ 0 h 4744251"/>
              <a:gd name="connsiteX2" fmla="*/ 0 w 1001483"/>
              <a:gd name="connsiteY2" fmla="*/ 4744251 h 4744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01483" h="4744251">
                <a:moveTo>
                  <a:pt x="0" y="0"/>
                </a:moveTo>
                <a:lnTo>
                  <a:pt x="1001483" y="0"/>
                </a:lnTo>
                <a:lnTo>
                  <a:pt x="0" y="474425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54321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7029D3-E8C9-6149-00BE-A8EBBC001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5" name="Rectangle 88">
            <a:extLst>
              <a:ext uri="{FF2B5EF4-FFF2-40B4-BE49-F238E27FC236}">
                <a16:creationId xmlns:a16="http://schemas.microsoft.com/office/drawing/2014/main" id="{5DB23C2B-2054-4D8B-9E98-9190F8E05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Freeform: Shape 90">
            <a:extLst>
              <a:ext uri="{FF2B5EF4-FFF2-40B4-BE49-F238E27FC236}">
                <a16:creationId xmlns:a16="http://schemas.microsoft.com/office/drawing/2014/main" id="{8797B5BC-9873-45F9-97D6-298FB5AF08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762000"/>
            <a:ext cx="4208489" cy="5334001"/>
          </a:xfrm>
          <a:custGeom>
            <a:avLst/>
            <a:gdLst>
              <a:gd name="connsiteX0" fmla="*/ 1015642 w 4208489"/>
              <a:gd name="connsiteY0" fmla="*/ 0 h 5334001"/>
              <a:gd name="connsiteX1" fmla="*/ 4208489 w 4208489"/>
              <a:gd name="connsiteY1" fmla="*/ 0 h 5334001"/>
              <a:gd name="connsiteX2" fmla="*/ 4208489 w 4208489"/>
              <a:gd name="connsiteY2" fmla="*/ 5334001 h 5334001"/>
              <a:gd name="connsiteX3" fmla="*/ 0 w 4208489"/>
              <a:gd name="connsiteY3" fmla="*/ 5334001 h 5334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8489" h="5334001">
                <a:moveTo>
                  <a:pt x="1015642" y="0"/>
                </a:moveTo>
                <a:lnTo>
                  <a:pt x="4208489" y="0"/>
                </a:lnTo>
                <a:lnTo>
                  <a:pt x="4208489" y="5334001"/>
                </a:lnTo>
                <a:lnTo>
                  <a:pt x="0" y="533400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49BCCA54-8C95-A424-5058-FC5E7B6E1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260" y="1683144"/>
            <a:ext cx="2774922" cy="3491712"/>
          </a:xfrm>
        </p:spPr>
        <p:txBody>
          <a:bodyPr>
            <a:normAutofit/>
          </a:bodyPr>
          <a:lstStyle/>
          <a:p>
            <a:r>
              <a:rPr lang="zh-TW" altLang="en-US"/>
              <a:t>研究方法</a:t>
            </a:r>
          </a:p>
        </p:txBody>
      </p:sp>
      <p:sp>
        <p:nvSpPr>
          <p:cNvPr id="83" name="內容版面配置區 2">
            <a:extLst>
              <a:ext uri="{FF2B5EF4-FFF2-40B4-BE49-F238E27FC236}">
                <a16:creationId xmlns:a16="http://schemas.microsoft.com/office/drawing/2014/main" id="{DCBC126A-8502-F04F-B1E1-ADC008481F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61606" y="1683143"/>
            <a:ext cx="6627377" cy="3491713"/>
          </a:xfrm>
        </p:spPr>
        <p:txBody>
          <a:bodyPr>
            <a:normAutofit/>
          </a:bodyPr>
          <a:lstStyle/>
          <a:p>
            <a:r>
              <a:rPr lang="en-US" altLang="zh-TW"/>
              <a:t>ROME</a:t>
            </a:r>
            <a:r>
              <a:rPr lang="zh-TW" altLang="en-US"/>
              <a:t>第一步我們希望改變答案就是永久改變，而不是這次改了下次就錯，所以我們思路是這樣的：找到某個觸發條件</a:t>
            </a:r>
            <a:r>
              <a:rPr lang="en-US" altLang="zh-TW"/>
              <a:t>(k*)</a:t>
            </a:r>
            <a:r>
              <a:rPr lang="zh-TW" altLang="en-US"/>
              <a:t>最後輸出的結果為</a:t>
            </a:r>
            <a:r>
              <a:rPr lang="en-US" altLang="zh-TW"/>
              <a:t>(v*)</a:t>
            </a:r>
            <a:r>
              <a:rPr lang="zh-TW" altLang="en-US"/>
              <a:t>，換句話說模型以後看到</a:t>
            </a:r>
            <a:r>
              <a:rPr lang="en-US" altLang="zh-TW"/>
              <a:t>k*</a:t>
            </a:r>
            <a:r>
              <a:rPr lang="zh-TW" altLang="en-US"/>
              <a:t>這個條件都會輸出</a:t>
            </a:r>
            <a:r>
              <a:rPr lang="en-US" altLang="zh-TW"/>
              <a:t>v*</a:t>
            </a:r>
          </a:p>
          <a:p>
            <a:r>
              <a:rPr lang="zh-TW" altLang="en-US"/>
              <a:t>例如：巴黎在「法國」改成巴黎在「英國」</a:t>
            </a:r>
            <a:endParaRPr lang="en-US" altLang="zh-TW"/>
          </a:p>
          <a:p>
            <a:r>
              <a:rPr lang="zh-TW" altLang="en-US"/>
              <a:t>以後看到巴黎都會輸出英國</a:t>
            </a:r>
            <a:endParaRPr lang="en-US" altLang="zh-TW"/>
          </a:p>
        </p:txBody>
      </p:sp>
      <p:sp>
        <p:nvSpPr>
          <p:cNvPr id="97" name="Freeform: Shape 92">
            <a:extLst>
              <a:ext uri="{FF2B5EF4-FFF2-40B4-BE49-F238E27FC236}">
                <a16:creationId xmlns:a16="http://schemas.microsoft.com/office/drawing/2014/main" id="{665C2FCD-09A4-4B4B-AA73-F330DFE91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1190517" y="1056875"/>
            <a:ext cx="1001483" cy="4744251"/>
          </a:xfrm>
          <a:custGeom>
            <a:avLst/>
            <a:gdLst>
              <a:gd name="connsiteX0" fmla="*/ 0 w 1001483"/>
              <a:gd name="connsiteY0" fmla="*/ 0 h 4744251"/>
              <a:gd name="connsiteX1" fmla="*/ 1001483 w 1001483"/>
              <a:gd name="connsiteY1" fmla="*/ 0 h 4744251"/>
              <a:gd name="connsiteX2" fmla="*/ 0 w 1001483"/>
              <a:gd name="connsiteY2" fmla="*/ 4744251 h 4744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01483" h="4744251">
                <a:moveTo>
                  <a:pt x="0" y="0"/>
                </a:moveTo>
                <a:lnTo>
                  <a:pt x="1001483" y="0"/>
                </a:lnTo>
                <a:lnTo>
                  <a:pt x="0" y="474425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64723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E1AED-9E01-5F92-6DE3-9019BEB98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E4FF9FF-5035-678E-F801-49C623165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研究方法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B9BD805-4C9E-FC23-D96E-17D9B9BA53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25515" y="1382825"/>
            <a:ext cx="8079173" cy="4342195"/>
          </a:xfrm>
        </p:spPr>
        <p:txBody>
          <a:bodyPr>
            <a:normAutofit/>
          </a:bodyPr>
          <a:lstStyle/>
          <a:p>
            <a:r>
              <a:rPr lang="en-US" altLang="zh-TW" dirty="0"/>
              <a:t>ROME</a:t>
            </a:r>
            <a:r>
              <a:rPr lang="zh-TW" altLang="en-US" dirty="0"/>
              <a:t>第一步</a:t>
            </a:r>
            <a:endParaRPr lang="en-US" altLang="zh-TW" dirty="0"/>
          </a:p>
          <a:p>
            <a:r>
              <a:rPr lang="zh-TW" altLang="en-US" dirty="0"/>
              <a:t>而</a:t>
            </a:r>
            <a:r>
              <a:rPr lang="en-US" altLang="zh-TW" dirty="0"/>
              <a:t>k*(</a:t>
            </a:r>
            <a:r>
              <a:rPr lang="zh-TW" altLang="en-US" dirty="0"/>
              <a:t>觸發條件</a:t>
            </a:r>
            <a:r>
              <a:rPr lang="en-US" altLang="zh-TW" dirty="0"/>
              <a:t>)</a:t>
            </a:r>
            <a:r>
              <a:rPr lang="zh-TW" altLang="en-US" dirty="0"/>
              <a:t>也不是隨機挑選，</a:t>
            </a:r>
            <a:r>
              <a:rPr lang="en-US" altLang="zh-TW" dirty="0"/>
              <a:t>k*</a:t>
            </a:r>
            <a:r>
              <a:rPr lang="zh-TW" altLang="en-US" dirty="0"/>
              <a:t>是經過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 err="1"/>
              <a:t>x_j</a:t>
            </a:r>
            <a:r>
              <a:rPr lang="en-US" altLang="zh-TW" dirty="0"/>
              <a:t>:</a:t>
            </a:r>
            <a:r>
              <a:rPr lang="zh-TW" altLang="en-US" dirty="0"/>
              <a:t>隨機生成 </a:t>
            </a:r>
            <a:r>
              <a:rPr lang="en-US" altLang="zh-TW" dirty="0"/>
              <a:t>N </a:t>
            </a:r>
            <a:r>
              <a:rPr lang="zh-TW" altLang="en-US" dirty="0"/>
              <a:t>個（ </a:t>
            </a:r>
            <a:r>
              <a:rPr lang="en-US" altLang="zh-TW" dirty="0"/>
              <a:t>50 </a:t>
            </a:r>
            <a:r>
              <a:rPr lang="zh-TW" altLang="en-US" dirty="0"/>
              <a:t>個）長度</a:t>
            </a:r>
            <a:r>
              <a:rPr lang="en-US" altLang="zh-TW" dirty="0"/>
              <a:t>(2</a:t>
            </a:r>
            <a:r>
              <a:rPr lang="zh-TW" altLang="en-US" dirty="0"/>
              <a:t>到</a:t>
            </a:r>
            <a:r>
              <a:rPr lang="en-US" altLang="zh-TW" dirty="0"/>
              <a:t>10)</a:t>
            </a:r>
            <a:r>
              <a:rPr lang="zh-TW" altLang="en-US" dirty="0"/>
              <a:t>不同的文本前綴</a:t>
            </a:r>
            <a:endParaRPr lang="en-US" altLang="zh-TW" dirty="0"/>
          </a:p>
          <a:p>
            <a:r>
              <a:rPr lang="en-US" altLang="zh-TW" dirty="0"/>
              <a:t>s:subject</a:t>
            </a:r>
          </a:p>
          <a:p>
            <a:r>
              <a:rPr lang="zh-TW" altLang="en-US" dirty="0"/>
              <a:t>表示</a:t>
            </a:r>
            <a:r>
              <a:rPr lang="en-US" altLang="zh-TW" dirty="0">
                <a:solidFill>
                  <a:schemeClr val="tx1"/>
                </a:solidFill>
                <a:latin typeface="+mn-ea"/>
              </a:rPr>
              <a:t>k*</a:t>
            </a:r>
            <a:r>
              <a:rPr lang="zh-TW" altLang="zh-TW" dirty="0">
                <a:solidFill>
                  <a:schemeClr val="tx1"/>
                </a:solidFill>
                <a:latin typeface="+mn-ea"/>
              </a:rPr>
              <a:t> 是透過輸入多個不同的句子取平均值算出來的，代表這個主詞的「</a:t>
            </a:r>
            <a:r>
              <a:rPr lang="zh-TW" altLang="en-US" dirty="0"/>
              <a:t>代表者</a:t>
            </a:r>
            <a:r>
              <a:rPr lang="zh-TW" altLang="zh-TW" dirty="0">
                <a:solidFill>
                  <a:schemeClr val="tx1"/>
                </a:solidFill>
                <a:latin typeface="+mn-ea"/>
              </a:rPr>
              <a:t>」。</a:t>
            </a:r>
          </a:p>
          <a:p>
            <a:endParaRPr lang="en-US" altLang="zh-TW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5078F48-B0D2-368C-492C-E009E305DB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5682" y="2910838"/>
            <a:ext cx="7217229" cy="955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1856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F9F4B-C5FF-4A78-4305-3FF6743C4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1F64B9F-8404-19FD-9286-544D48BF1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研究方法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58A19E8-387F-0FC5-DDB3-0DDF91112C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1755" y="1148079"/>
            <a:ext cx="8137025" cy="4351338"/>
          </a:xfrm>
        </p:spPr>
        <p:txBody>
          <a:bodyPr>
            <a:normAutofit/>
          </a:bodyPr>
          <a:lstStyle/>
          <a:p>
            <a:r>
              <a:rPr lang="en-US" altLang="zh-TW" dirty="0"/>
              <a:t>ROME</a:t>
            </a:r>
            <a:r>
              <a:rPr lang="zh-TW" altLang="en-US" dirty="0"/>
              <a:t>第一步</a:t>
            </a:r>
            <a:endParaRPr lang="en-US" altLang="zh-TW" dirty="0"/>
          </a:p>
          <a:p>
            <a:r>
              <a:rPr lang="zh-TW" altLang="en-US" dirty="0"/>
              <a:t>為甚麼要這樣找</a:t>
            </a:r>
            <a:r>
              <a:rPr lang="en-US" altLang="zh-TW" dirty="0"/>
              <a:t>k*</a:t>
            </a:r>
            <a:r>
              <a:rPr lang="zh-TW" altLang="en-US" dirty="0"/>
              <a:t>呢</a:t>
            </a:r>
            <a:endParaRPr lang="en-US" altLang="zh-TW" dirty="0"/>
          </a:p>
          <a:p>
            <a:r>
              <a:rPr lang="zh-TW" altLang="zh-TW" dirty="0">
                <a:solidFill>
                  <a:schemeClr val="tx1"/>
                </a:solidFill>
                <a:latin typeface="Arial" panose="020B0604020202020204" pitchFamily="34" charset="0"/>
                <a:ea typeface="Google Sans Text"/>
              </a:rPr>
              <a:t>同一個詞（例如 "Steve Jobs"）在不同的句子裡，它的向量表示其實會長得不一樣。</a:t>
            </a:r>
            <a:endParaRPr lang="zh-TW" altLang="zh-TW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50292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zh-TW" altLang="zh-TW" dirty="0">
                <a:solidFill>
                  <a:schemeClr val="tx1"/>
                </a:solidFill>
                <a:latin typeface="Arial" panose="020B0604020202020204" pitchFamily="34" charset="0"/>
                <a:ea typeface="Google Sans Text"/>
              </a:rPr>
              <a:t>句子 A: "Steve Jobs liked apples."</a:t>
            </a:r>
          </a:p>
          <a:p>
            <a:pPr marL="50292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zh-TW" altLang="zh-TW" dirty="0">
                <a:solidFill>
                  <a:schemeClr val="tx1"/>
                </a:solidFill>
                <a:latin typeface="Arial" panose="020B0604020202020204" pitchFamily="34" charset="0"/>
                <a:ea typeface="Google Sans Text"/>
              </a:rPr>
              <a:t>句子 B: "The founder of Apple, Steve Jobs, was..."</a:t>
            </a:r>
          </a:p>
          <a:p>
            <a:pPr marL="50292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zh-TW" altLang="zh-TW" dirty="0">
                <a:solidFill>
                  <a:schemeClr val="tx1"/>
                </a:solidFill>
                <a:latin typeface="Arial" panose="020B0604020202020204" pitchFamily="34" charset="0"/>
                <a:ea typeface="Google Sans Text"/>
              </a:rPr>
              <a:t>在模型眼中，這兩個 "Steve Jobs" 的向量 k 會有微小的差異（因為受到前文 context 的影響）。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zh-TW" altLang="zh-TW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7599033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E1E8C-65A6-A608-E56D-0C3C7586B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74A7C7A-3BD7-36B8-EDD4-F52977D43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研究方法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54A0BCD-45F6-78AA-460C-865469A35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3801" y="1123837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zh-TW" dirty="0"/>
              <a:t>ROME</a:t>
            </a:r>
            <a:r>
              <a:rPr lang="zh-TW" altLang="en-US" dirty="0"/>
              <a:t>第二步</a:t>
            </a:r>
            <a:endParaRPr lang="en-US" altLang="zh-TW" dirty="0"/>
          </a:p>
          <a:p>
            <a:r>
              <a:rPr lang="zh-TW" altLang="en-US" dirty="0"/>
              <a:t>我們想找到一個</a:t>
            </a:r>
            <a:r>
              <a:rPr lang="en-US" altLang="zh-TW" dirty="0"/>
              <a:t>v* </a:t>
            </a:r>
            <a:r>
              <a:rPr lang="zh-TW" altLang="en-US" dirty="0"/>
              <a:t>使得可以插入新的關係</a:t>
            </a:r>
            <a:endParaRPr lang="en-US" altLang="zh-TW" dirty="0"/>
          </a:p>
          <a:p>
            <a:r>
              <a:rPr lang="zh-TW" altLang="en-US" dirty="0"/>
              <a:t>而</a:t>
            </a:r>
            <a:r>
              <a:rPr lang="en-US" altLang="zh-TW" dirty="0"/>
              <a:t>v*</a:t>
            </a:r>
            <a:r>
              <a:rPr lang="zh-TW" altLang="en-US" dirty="0"/>
              <a:t>滿足以下條件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r>
              <a:rPr lang="en-US" altLang="zh-TW" dirty="0" err="1"/>
              <a:t>x_j</a:t>
            </a:r>
            <a:r>
              <a:rPr lang="en-US" altLang="zh-TW" dirty="0"/>
              <a:t>:</a:t>
            </a:r>
            <a:r>
              <a:rPr lang="zh-TW" altLang="en-US" dirty="0"/>
              <a:t>隨機生成 </a:t>
            </a:r>
            <a:r>
              <a:rPr lang="en-US" altLang="zh-TW" dirty="0"/>
              <a:t>N </a:t>
            </a:r>
            <a:r>
              <a:rPr lang="zh-TW" altLang="en-US" dirty="0"/>
              <a:t>個（ </a:t>
            </a:r>
            <a:r>
              <a:rPr lang="en-US" altLang="zh-TW" dirty="0"/>
              <a:t>50 </a:t>
            </a:r>
            <a:r>
              <a:rPr lang="zh-TW" altLang="en-US" dirty="0"/>
              <a:t>個）長度</a:t>
            </a:r>
            <a:r>
              <a:rPr lang="en-US" altLang="zh-TW" dirty="0"/>
              <a:t>(2</a:t>
            </a:r>
            <a:r>
              <a:rPr lang="zh-TW" altLang="en-US" dirty="0"/>
              <a:t>到</a:t>
            </a:r>
            <a:r>
              <a:rPr lang="en-US" altLang="zh-TW" dirty="0"/>
              <a:t>10)</a:t>
            </a:r>
            <a:r>
              <a:rPr lang="zh-TW" altLang="en-US" dirty="0"/>
              <a:t>不同的文本前綴</a:t>
            </a:r>
            <a:endParaRPr lang="en-US" altLang="zh-TW" dirty="0"/>
          </a:p>
          <a:p>
            <a:r>
              <a:rPr lang="en-US" altLang="zh-TW" dirty="0"/>
              <a:t>s:subject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661E2F0-B032-DAD6-0429-39C401AF65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8966" y="2712228"/>
            <a:ext cx="3124436" cy="565631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4FD64EB8-B6DC-5F8C-8974-C7A8E6994C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8291" y="3267676"/>
            <a:ext cx="700079" cy="420047"/>
          </a:xfrm>
          <a:prstGeom prst="rect">
            <a:avLst/>
          </a:prstGeom>
        </p:spPr>
      </p:pic>
      <p:pic>
        <p:nvPicPr>
          <p:cNvPr id="10" name="圖片 9" descr="一張含有 文字, 字型, 行, 白色 的圖片&#10;&#10;AI 產生的內容可能不正確。">
            <a:extLst>
              <a:ext uri="{FF2B5EF4-FFF2-40B4-BE49-F238E27FC236}">
                <a16:creationId xmlns:a16="http://schemas.microsoft.com/office/drawing/2014/main" id="{ADA52E68-7EB8-2A09-7937-E815604F34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2860" y="3198208"/>
            <a:ext cx="6294137" cy="883388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CF0B35AE-3086-045A-AA01-84C36B1B463F}"/>
              </a:ext>
            </a:extLst>
          </p:cNvPr>
          <p:cNvSpPr txBox="1"/>
          <p:nvPr/>
        </p:nvSpPr>
        <p:spPr>
          <a:xfrm>
            <a:off x="4693450" y="3188312"/>
            <a:ext cx="4879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=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9045672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35E86F4-B0B7-44AF-A683-3A194035C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研究方法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3E93DA3-BDFC-A04D-1F17-889ED37C19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ROME</a:t>
            </a:r>
            <a:r>
              <a:rPr lang="zh-TW" altLang="en-US" dirty="0"/>
              <a:t>第二步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這段公式的加號前的部分是為了最大化新目標的機率</a:t>
            </a:r>
            <a:endParaRPr lang="en-US" altLang="zh-TW" dirty="0"/>
          </a:p>
          <a:p>
            <a:r>
              <a:rPr lang="zh-TW" altLang="zh-TW" dirty="0">
                <a:solidFill>
                  <a:schemeClr val="tx1"/>
                </a:solidFill>
                <a:latin typeface="Arial" panose="020B0604020202020204" pitchFamily="34" charset="0"/>
              </a:rPr>
              <a:t>這部分希望當模型看到提示（如 "{Subject} is the founder of"）時，能夠高機率預測出新的目標詞 （如 "Microsoft"）</a:t>
            </a:r>
            <a:endParaRPr lang="en-US" altLang="zh-TW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zh-TW" altLang="en-US" dirty="0">
                <a:solidFill>
                  <a:schemeClr val="tx1"/>
                </a:solidFill>
                <a:latin typeface="Arial" panose="020B0604020202020204" pitchFamily="34" charset="0"/>
              </a:rPr>
              <a:t>以巴黎在「法國」為例換。句話說就是</a:t>
            </a:r>
            <a:r>
              <a:rPr lang="zh-TW" altLang="zh-TW" dirty="0">
                <a:solidFill>
                  <a:schemeClr val="tx1"/>
                </a:solidFill>
                <a:latin typeface="Arial" panose="020B0604020202020204" pitchFamily="34" charset="0"/>
              </a:rPr>
              <a:t>：我們希望找到一個神秘向量 </a:t>
            </a:r>
            <a:r>
              <a:rPr lang="en-US" altLang="zh-TW" dirty="0">
                <a:solidFill>
                  <a:schemeClr val="tx1"/>
                </a:solidFill>
                <a:latin typeface="Arial" panose="020B0604020202020204" pitchFamily="34" charset="0"/>
              </a:rPr>
              <a:t>v*</a:t>
            </a:r>
            <a:r>
              <a:rPr lang="zh-TW" altLang="zh-TW" dirty="0">
                <a:solidFill>
                  <a:schemeClr val="tx1"/>
                </a:solidFill>
                <a:latin typeface="Arial" panose="020B0604020202020204" pitchFamily="34" charset="0"/>
              </a:rPr>
              <a:t>，把它放入模型對「巴黎」的理解中，使得模型在看到提示詞時，</a:t>
            </a:r>
            <a:r>
              <a:rPr lang="zh-TW" altLang="zh-TW" dirty="0">
                <a:solidFill>
                  <a:schemeClr val="tx1"/>
                </a:solidFill>
                <a:latin typeface="Arial" panose="020B0604020202020204" pitchFamily="34" charset="0"/>
                <a:ea typeface="Google Sans Text"/>
              </a:rPr>
              <a:t>會毫不猶豫地大喊「英國」！</a:t>
            </a:r>
            <a:endParaRPr lang="zh-TW" altLang="zh-TW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zh-TW" altLang="zh-TW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altLang="zh-TW" dirty="0"/>
          </a:p>
          <a:p>
            <a:pPr marL="0" indent="0">
              <a:buNone/>
            </a:pPr>
            <a:endParaRPr lang="zh-TW" altLang="en-US" dirty="0"/>
          </a:p>
        </p:txBody>
      </p:sp>
      <p:pic>
        <p:nvPicPr>
          <p:cNvPr id="4" name="圖片 3" descr="一張含有 文字, 字型, 行, 白色 的圖片&#10;&#10;AI 產生的內容可能不正確。">
            <a:extLst>
              <a:ext uri="{FF2B5EF4-FFF2-40B4-BE49-F238E27FC236}">
                <a16:creationId xmlns:a16="http://schemas.microsoft.com/office/drawing/2014/main" id="{8D5A7C36-4194-F6B8-B32F-199D9BE49C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2594" y="1416079"/>
            <a:ext cx="6294137" cy="883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7153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596FB-A0EA-9571-4DB1-FE0F28524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132D1DC-F3B8-8868-E788-F73078789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研究方法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8B2A127-82E8-3FFC-13E3-64229B18E7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ROME</a:t>
            </a:r>
            <a:r>
              <a:rPr lang="zh-TW" altLang="en-US" dirty="0"/>
              <a:t>第二步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這段公式的加號後的部分是為了讓它不要亂說話</a:t>
            </a:r>
            <a:endParaRPr lang="en-US" altLang="zh-TW" dirty="0"/>
          </a:p>
          <a:p>
            <a:r>
              <a:rPr lang="zh-TW" altLang="zh-TW" dirty="0">
                <a:solidFill>
                  <a:schemeClr val="tx1"/>
                </a:solidFill>
                <a:latin typeface="+mn-ea"/>
              </a:rPr>
              <a:t>這部分希望</a:t>
            </a:r>
            <a:r>
              <a:rPr lang="zh-TW" altLang="en-US" dirty="0">
                <a:solidFill>
                  <a:schemeClr val="tx1"/>
                </a:solidFill>
                <a:latin typeface="+mn-ea"/>
              </a:rPr>
              <a:t>「</a:t>
            </a:r>
            <a:r>
              <a:rPr lang="zh-TW" altLang="en-US" dirty="0">
                <a:latin typeface="+mn-ea"/>
              </a:rPr>
              <a:t>保護舊常識」。這部分要求模型在面對與修改無關的問題時，表現要跟修改前一模一樣。</a:t>
            </a:r>
            <a:endParaRPr lang="en-US" altLang="zh-TW" dirty="0">
              <a:latin typeface="+mn-ea"/>
            </a:endParaRPr>
          </a:p>
          <a:p>
            <a:r>
              <a:rPr lang="zh-TW" altLang="en-US" dirty="0">
                <a:solidFill>
                  <a:schemeClr val="tx1"/>
                </a:solidFill>
                <a:latin typeface="+mn-ea"/>
              </a:rPr>
              <a:t>以巴黎在「法國」為例：</a:t>
            </a:r>
            <a:r>
              <a:rPr lang="zh-TW" altLang="en-US" dirty="0">
                <a:latin typeface="+mn-ea"/>
              </a:rPr>
              <a:t>這個公式要求模型在修改事實的同時，必須保留主詞（</a:t>
            </a:r>
            <a:r>
              <a:rPr lang="en-US" altLang="zh-TW" dirty="0">
                <a:latin typeface="+mn-ea"/>
              </a:rPr>
              <a:t>Paris</a:t>
            </a:r>
            <a:r>
              <a:rPr lang="zh-TW" altLang="en-US" dirty="0">
                <a:latin typeface="+mn-ea"/>
              </a:rPr>
              <a:t>）原本的「特徵」與「屬性」，不能因為搬家到了英國，就連「它是一個城市」這件事都忘了。</a:t>
            </a:r>
            <a:endParaRPr lang="zh-TW" altLang="zh-TW" dirty="0">
              <a:solidFill>
                <a:schemeClr val="tx1"/>
              </a:solidFill>
              <a:latin typeface="+mn-ea"/>
            </a:endParaRPr>
          </a:p>
          <a:p>
            <a:endParaRPr lang="en-US" altLang="zh-TW" dirty="0"/>
          </a:p>
          <a:p>
            <a:pPr marL="0" indent="0">
              <a:buNone/>
            </a:pPr>
            <a:endParaRPr lang="zh-TW" altLang="en-US" dirty="0"/>
          </a:p>
        </p:txBody>
      </p:sp>
      <p:pic>
        <p:nvPicPr>
          <p:cNvPr id="4" name="圖片 3" descr="一張含有 文字, 字型, 行, 白色 的圖片&#10;&#10;AI 產生的內容可能不正確。">
            <a:extLst>
              <a:ext uri="{FF2B5EF4-FFF2-40B4-BE49-F238E27FC236}">
                <a16:creationId xmlns:a16="http://schemas.microsoft.com/office/drawing/2014/main" id="{9532103F-81EF-B397-ED19-186162B882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2594" y="1416079"/>
            <a:ext cx="6294137" cy="883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1000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44F412-75CB-028E-A940-2D947164F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研究方法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709CD3F-9BF6-3D60-1ECA-F59C29D58A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ROME</a:t>
            </a:r>
            <a:r>
              <a:rPr lang="zh-TW" altLang="en-US" dirty="0"/>
              <a:t>第二步</a:t>
            </a:r>
            <a:endParaRPr lang="en-US" altLang="zh-TW" dirty="0"/>
          </a:p>
          <a:p>
            <a:r>
              <a:rPr lang="zh-TW" altLang="en-US" dirty="0"/>
              <a:t>為甚麼要特別找一個</a:t>
            </a:r>
            <a:r>
              <a:rPr lang="en-US" altLang="zh-TW" dirty="0"/>
              <a:t>v*</a:t>
            </a:r>
          </a:p>
          <a:p>
            <a:r>
              <a:rPr lang="zh-TW" altLang="en-US" dirty="0"/>
              <a:t>直覺上，我們確實會想：「如果我想要模型輸出 </a:t>
            </a:r>
            <a:r>
              <a:rPr lang="en-US" altLang="zh-TW" dirty="0"/>
              <a:t>“</a:t>
            </a:r>
            <a:r>
              <a:rPr lang="zh-TW" altLang="en-US" dirty="0"/>
              <a:t>英國</a:t>
            </a:r>
            <a:r>
              <a:rPr lang="en-US" altLang="zh-TW" dirty="0"/>
              <a:t>”</a:t>
            </a:r>
            <a:r>
              <a:rPr lang="zh-TW" altLang="en-US" dirty="0"/>
              <a:t>，為什麼不直接把 </a:t>
            </a:r>
            <a:r>
              <a:rPr lang="en-US" altLang="zh-TW" dirty="0"/>
              <a:t>“</a:t>
            </a:r>
            <a:r>
              <a:rPr lang="zh-TW" altLang="en-US" dirty="0"/>
              <a:t>英國</a:t>
            </a:r>
            <a:r>
              <a:rPr lang="en-US" altLang="zh-TW" dirty="0"/>
              <a:t>” </a:t>
            </a:r>
            <a:r>
              <a:rPr lang="zh-TW" altLang="en-US" dirty="0"/>
              <a:t>的向量拿來當作 </a:t>
            </a:r>
            <a:r>
              <a:rPr lang="en-US" altLang="zh-TW" dirty="0"/>
              <a:t>v*</a:t>
            </a:r>
            <a:r>
              <a:rPr lang="zh-TW" altLang="en-US" dirty="0"/>
              <a:t>插入就好了？」</a:t>
            </a:r>
          </a:p>
          <a:p>
            <a:r>
              <a:rPr lang="zh-TW" altLang="en-US" dirty="0"/>
              <a:t>答案在於：</a:t>
            </a:r>
            <a:r>
              <a:rPr lang="en-US" altLang="zh-TW" dirty="0"/>
              <a:t>Transformer </a:t>
            </a:r>
            <a:r>
              <a:rPr lang="zh-TW" altLang="en-US" dirty="0"/>
              <a:t>模型內部跟最後輸出講的是完全不同的語言。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66740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A555B-9A7E-6DBF-B5A6-4D030A921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D6DF3EB-DCB8-BBDD-6062-A8EC28D3A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研究方法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AF92B51-CD24-EE9C-3294-2645A6445D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5146" y="929225"/>
            <a:ext cx="8287754" cy="4795795"/>
          </a:xfrm>
        </p:spPr>
        <p:txBody>
          <a:bodyPr>
            <a:normAutofit/>
          </a:bodyPr>
          <a:lstStyle/>
          <a:p>
            <a:r>
              <a:rPr lang="en-US" altLang="zh-TW" dirty="0"/>
              <a:t>ROME</a:t>
            </a:r>
            <a:r>
              <a:rPr lang="zh-TW" altLang="en-US" dirty="0"/>
              <a:t>第三步</a:t>
            </a:r>
            <a:endParaRPr lang="en-US" altLang="zh-TW" dirty="0"/>
          </a:p>
          <a:p>
            <a:r>
              <a:rPr lang="zh-TW" altLang="en-US" dirty="0"/>
              <a:t>把第一步及第二步得到的</a:t>
            </a:r>
            <a:r>
              <a:rPr lang="en-US" altLang="zh-TW" dirty="0"/>
              <a:t>(k*,v*)</a:t>
            </a:r>
            <a:r>
              <a:rPr lang="zh-TW" altLang="en-US" dirty="0"/>
              <a:t>帶入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然後再把模型的權重替換成</a:t>
            </a:r>
            <a:endParaRPr lang="en-US" altLang="zh-TW" dirty="0"/>
          </a:p>
          <a:p>
            <a:r>
              <a:rPr lang="zh-TW" altLang="en-US" dirty="0"/>
              <a:t>即完成對權重的更新，也就是說我們現在可以使模型講出我們所設定的答案了</a:t>
            </a:r>
            <a:endParaRPr lang="en-US" altLang="zh-TW" dirty="0"/>
          </a:p>
          <a:p>
            <a:r>
              <a:rPr lang="zh-TW" altLang="en-US" dirty="0"/>
              <a:t>公式源自於作者的推導</a:t>
            </a:r>
            <a:endParaRPr lang="en-US" altLang="zh-TW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B967CE1-A655-6B07-1CD1-F670E83909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9040" t="26209" b="16037"/>
          <a:stretch>
            <a:fillRect/>
          </a:stretch>
        </p:blipFill>
        <p:spPr>
          <a:xfrm>
            <a:off x="3709869" y="2135140"/>
            <a:ext cx="3417144" cy="548619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A85274F7-8265-2285-5781-E9A5AA7795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9869" y="2732618"/>
            <a:ext cx="4542963" cy="464066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FC2DFEA6-6A8D-D809-4264-D9222A5A36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7577" y="2607149"/>
            <a:ext cx="1886856" cy="554959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C9CCA7A5-D2C4-0DD8-A938-3A97FECB71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9869" y="3135573"/>
            <a:ext cx="6942222" cy="628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35549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6DF9084-1934-3E35-5CFD-8CA9B0BD1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創新與展延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69064D8-CAD5-EA58-1D10-5C6CA933B7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改變特殊詞彙以重現實驗</a:t>
            </a:r>
            <a:endParaRPr lang="en-US" altLang="zh-TW" dirty="0"/>
          </a:p>
          <a:p>
            <a:pPr marL="0" indent="0"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468937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6C599-E998-B19C-1616-A74F69006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2869C02-323F-529C-8050-33362062D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創新與展延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6D15FA4-177E-B964-9851-40FE42D880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改變以下句子再對其做因果追蹤</a:t>
            </a:r>
            <a:endParaRPr lang="en-US" altLang="zh-TW" dirty="0"/>
          </a:p>
          <a:p>
            <a:pPr marL="514350" indent="-514350">
              <a:buFont typeface="+mj-lt"/>
              <a:buAutoNum type="arabicPeriod"/>
            </a:pPr>
            <a:r>
              <a:rPr lang="en-US" altLang="zh-TW" dirty="0"/>
              <a:t>New Taipei City is the most populous city in</a:t>
            </a:r>
            <a:r>
              <a:rPr lang="zh-TW" altLang="en-US" dirty="0"/>
              <a:t> </a:t>
            </a:r>
            <a:r>
              <a:rPr lang="en-US" altLang="zh-TW" dirty="0"/>
              <a:t>Taiwan.</a:t>
            </a:r>
          </a:p>
          <a:p>
            <a:pPr marL="0" indent="0">
              <a:buNone/>
            </a:pPr>
            <a:r>
              <a:rPr lang="en-US" altLang="zh-TW" dirty="0"/>
              <a:t>	“Taiwan” -&gt; “Japan”</a:t>
            </a:r>
          </a:p>
          <a:p>
            <a:pPr marL="0" indent="0">
              <a:buNone/>
            </a:pPr>
            <a:r>
              <a:rPr lang="en-US" altLang="zh-TW" dirty="0"/>
              <a:t>2. The current richest person in the world is Elon Musk.</a:t>
            </a:r>
          </a:p>
          <a:p>
            <a:pPr marL="0" indent="0">
              <a:buNone/>
            </a:pPr>
            <a:r>
              <a:rPr lang="en-US" altLang="zh-TW" dirty="0"/>
              <a:t>	"Elon Musk” -&gt; “Donald Trump”</a:t>
            </a:r>
          </a:p>
          <a:p>
            <a:pPr marL="0" indent="0">
              <a:buNone/>
            </a:pPr>
            <a:r>
              <a:rPr lang="en-US" altLang="zh-TW" dirty="0"/>
              <a:t>3. The Louvre is located in the city of Paris.</a:t>
            </a:r>
          </a:p>
          <a:p>
            <a:pPr marL="0" indent="0">
              <a:buNone/>
            </a:pPr>
            <a:r>
              <a:rPr lang="en-US" altLang="zh-TW" dirty="0"/>
              <a:t>	“Paris”-&gt;"London"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647258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4EFE82-3EB4-C8A8-4D8B-9A95F8B77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715EB2F-CDDF-6DE6-025E-CB024D2DF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</p:spPr>
        <p:txBody>
          <a:bodyPr>
            <a:normAutofit/>
          </a:bodyPr>
          <a:lstStyle/>
          <a:p>
            <a:r>
              <a:rPr lang="zh-TW" altLang="en-US"/>
              <a:t>創新與展延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16A9ED9-1C11-2B99-FCD3-0CC189CA08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57954" y="172697"/>
            <a:ext cx="7315200" cy="2998765"/>
          </a:xfrm>
        </p:spPr>
        <p:txBody>
          <a:bodyPr>
            <a:normAutofit/>
          </a:bodyPr>
          <a:lstStyle/>
          <a:p>
            <a:r>
              <a:rPr lang="zh-TW" altLang="en-US" dirty="0"/>
              <a:t>由</a:t>
            </a:r>
            <a:r>
              <a:rPr lang="en-US" altLang="zh-TW" dirty="0"/>
              <a:t>causal </a:t>
            </a:r>
            <a:r>
              <a:rPr lang="en-US" altLang="zh-TW" dirty="0" err="1"/>
              <a:t>trcaing</a:t>
            </a:r>
            <a:r>
              <a:rPr lang="zh-TW" altLang="en-US" dirty="0"/>
              <a:t>我們得到以下的結果</a:t>
            </a:r>
            <a:endParaRPr lang="en-US" altLang="zh-TW" dirty="0"/>
          </a:p>
          <a:p>
            <a:pPr marL="0" indent="0">
              <a:buNone/>
            </a:pPr>
            <a:endParaRPr lang="zh-TW" altLang="en-US" dirty="0"/>
          </a:p>
        </p:txBody>
      </p:sp>
      <p:pic>
        <p:nvPicPr>
          <p:cNvPr id="5" name="圖片 4" descr="一張含有 螢幕擷取畫面, 鮮豔, 文字, 行 的圖片&#10;&#10;AI 產生的內容可能不正確。">
            <a:extLst>
              <a:ext uri="{FF2B5EF4-FFF2-40B4-BE49-F238E27FC236}">
                <a16:creationId xmlns:a16="http://schemas.microsoft.com/office/drawing/2014/main" id="{E6CE020B-C5C5-E326-DF77-FE6E6C27DE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7954" y="1790527"/>
            <a:ext cx="8192356" cy="2048089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5351A473-0BB7-CFD8-28A3-86992D17807C}"/>
              </a:ext>
            </a:extLst>
          </p:cNvPr>
          <p:cNvSpPr txBox="1"/>
          <p:nvPr/>
        </p:nvSpPr>
        <p:spPr>
          <a:xfrm>
            <a:off x="3457954" y="4043428"/>
            <a:ext cx="8192356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en-US" altLang="zh-TW" dirty="0"/>
              <a:t>Taiwan: TE </a:t>
            </a:r>
            <a:r>
              <a:rPr lang="zh-TW" altLang="en-US" dirty="0"/>
              <a:t>為 </a:t>
            </a:r>
            <a:r>
              <a:rPr lang="en-US" altLang="zh-TW" dirty="0"/>
              <a:t>0.6837</a:t>
            </a:r>
            <a:r>
              <a:rPr lang="zh-TW" altLang="en-US" dirty="0"/>
              <a:t>，顯示因果效應顯著。最大 </a:t>
            </a:r>
            <a:r>
              <a:rPr lang="en-US" altLang="zh-TW" dirty="0"/>
              <a:t>IE </a:t>
            </a:r>
            <a:r>
              <a:rPr lang="zh-TW" altLang="en-US" dirty="0"/>
              <a:t>出現在第</a:t>
            </a:r>
            <a:r>
              <a:rPr lang="en-US" altLang="zh-TW" dirty="0"/>
              <a:t>9</a:t>
            </a:r>
            <a:r>
              <a:rPr lang="zh-TW" altLang="en-US" dirty="0"/>
              <a:t>層，證實該層 </a:t>
            </a:r>
            <a:r>
              <a:rPr lang="en-US" altLang="zh-TW" dirty="0"/>
              <a:t>MLP </a:t>
            </a:r>
            <a:r>
              <a:rPr lang="zh-TW" altLang="en-US" dirty="0"/>
              <a:t>儲存了關鍵事實知識。 </a:t>
            </a:r>
            <a:endParaRPr lang="en-US" altLang="zh-TW" dirty="0"/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en-US" altLang="zh-TW" dirty="0"/>
              <a:t>- Elon Musk: TE </a:t>
            </a:r>
            <a:r>
              <a:rPr lang="zh-TW" altLang="en-US" dirty="0"/>
              <a:t>為 </a:t>
            </a:r>
            <a:r>
              <a:rPr lang="en-US" altLang="zh-TW" dirty="0"/>
              <a:t>0.1011</a:t>
            </a:r>
            <a:r>
              <a:rPr lang="zh-TW" altLang="en-US" dirty="0"/>
              <a:t>，顯示因果效應顯著。最大 </a:t>
            </a:r>
            <a:r>
              <a:rPr lang="en-US" altLang="zh-TW" dirty="0"/>
              <a:t>IE </a:t>
            </a:r>
            <a:r>
              <a:rPr lang="zh-TW" altLang="en-US" dirty="0"/>
              <a:t>出現在第</a:t>
            </a:r>
            <a:r>
              <a:rPr lang="en-US" altLang="zh-TW" dirty="0"/>
              <a:t>6</a:t>
            </a:r>
            <a:r>
              <a:rPr lang="zh-TW" altLang="en-US" dirty="0"/>
              <a:t>層，證實該層 </a:t>
            </a:r>
            <a:r>
              <a:rPr lang="en-US" altLang="zh-TW" dirty="0"/>
              <a:t>MLP </a:t>
            </a:r>
            <a:r>
              <a:rPr lang="zh-TW" altLang="en-US" dirty="0"/>
              <a:t>儲存了關鍵事實知識。 </a:t>
            </a:r>
            <a:endParaRPr lang="en-US" altLang="zh-TW" dirty="0"/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en-US" altLang="zh-TW" dirty="0"/>
              <a:t>- Paris: TE </a:t>
            </a:r>
            <a:r>
              <a:rPr lang="zh-TW" altLang="en-US" dirty="0"/>
              <a:t>為 </a:t>
            </a:r>
            <a:r>
              <a:rPr lang="en-US" altLang="zh-TW" dirty="0"/>
              <a:t>0.8083</a:t>
            </a:r>
            <a:r>
              <a:rPr lang="zh-TW" altLang="en-US" dirty="0"/>
              <a:t>，顯示因果效應顯著。最大 </a:t>
            </a:r>
            <a:r>
              <a:rPr lang="en-US" altLang="zh-TW" dirty="0"/>
              <a:t>IE </a:t>
            </a:r>
            <a:r>
              <a:rPr lang="zh-TW" altLang="en-US" dirty="0"/>
              <a:t>出現在第 </a:t>
            </a:r>
            <a:r>
              <a:rPr lang="en-US" altLang="zh-TW" dirty="0"/>
              <a:t>8 </a:t>
            </a:r>
            <a:r>
              <a:rPr lang="zh-TW" altLang="en-US" dirty="0"/>
              <a:t>層，證實該層 </a:t>
            </a:r>
            <a:r>
              <a:rPr lang="en-US" altLang="zh-TW" dirty="0"/>
              <a:t>MLP </a:t>
            </a:r>
            <a:r>
              <a:rPr lang="zh-TW" altLang="en-US" dirty="0"/>
              <a:t>儲存了關鍵事實知識。</a:t>
            </a:r>
          </a:p>
        </p:txBody>
      </p:sp>
    </p:spTree>
    <p:extLst>
      <p:ext uri="{BB962C8B-B14F-4D97-AF65-F5344CB8AC3E}">
        <p14:creationId xmlns:p14="http://schemas.microsoft.com/office/powerpoint/2010/main" val="72717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FC14E8C-2CE4-A75C-1686-1D808109D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創新與展延</a:t>
            </a:r>
          </a:p>
        </p:txBody>
      </p:sp>
      <p:pic>
        <p:nvPicPr>
          <p:cNvPr id="5" name="內容版面配置區 4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906D84F3-F5D8-91AA-0822-FFA4E277F0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96386" y="1392934"/>
            <a:ext cx="8024356" cy="4332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7608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E615BD0-AD62-3AAD-38B2-C83A0D012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創新與展延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1C2EABB-4C3F-C8C5-3012-E64E1CAED2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由於程式碼及檔案難以展現於此，敬請見諒</a:t>
            </a:r>
          </a:p>
        </p:txBody>
      </p:sp>
    </p:spTree>
    <p:extLst>
      <p:ext uri="{BB962C8B-B14F-4D97-AF65-F5344CB8AC3E}">
        <p14:creationId xmlns:p14="http://schemas.microsoft.com/office/powerpoint/2010/main" val="33689653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5DC95B7-2A72-483B-BA19-2BE7512055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C822AFE-7E96-4A51-9E55-FCAEACD213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4516" y="4212709"/>
            <a:ext cx="10764932" cy="187394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6B9D0192-844D-A8B0-D486-A2F80B3A3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0406" y="4386057"/>
            <a:ext cx="4067033" cy="1527244"/>
          </a:xfrm>
        </p:spPr>
        <p:txBody>
          <a:bodyPr>
            <a:normAutofit/>
          </a:bodyPr>
          <a:lstStyle/>
          <a:p>
            <a:pPr algn="r"/>
            <a:r>
              <a:rPr lang="zh-TW" altLang="en-US" sz="3200"/>
              <a:t>創新與展延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169EA61-C175-4B7E-807B-58199DEA7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pic>
        <p:nvPicPr>
          <p:cNvPr id="5" name="內容版面配置區 4" descr="一張含有 文字, 字型, 螢幕擷取畫面, 代數 的圖片&#10;&#10;AI 產生的內容可能不正確。">
            <a:extLst>
              <a:ext uri="{FF2B5EF4-FFF2-40B4-BE49-F238E27FC236}">
                <a16:creationId xmlns:a16="http://schemas.microsoft.com/office/drawing/2014/main" id="{C1E8CF66-6FD4-9028-4AFC-34AC93CD8E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514" y="762340"/>
            <a:ext cx="10764933" cy="3175655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69F49E9-2882-84F3-55F8-A3F13974C6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7390" y="4386720"/>
            <a:ext cx="5992610" cy="152658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zh-TW" altLang="en-US" sz="1600" dirty="0">
                <a:solidFill>
                  <a:srgbClr val="FFFFFF"/>
                </a:solidFill>
              </a:rPr>
              <a:t>最後輸出結果</a:t>
            </a:r>
            <a:endParaRPr lang="en-US" sz="16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08241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E1E3706-D3E7-B8E0-4237-FB2A4BBB4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</p:spPr>
        <p:txBody>
          <a:bodyPr>
            <a:normAutofit/>
          </a:bodyPr>
          <a:lstStyle/>
          <a:p>
            <a:r>
              <a:rPr lang="zh-TW" altLang="en-US" dirty="0"/>
              <a:t>創新與展延</a:t>
            </a:r>
          </a:p>
        </p:txBody>
      </p:sp>
      <p:graphicFrame>
        <p:nvGraphicFramePr>
          <p:cNvPr id="5" name="內容版面配置區 2">
            <a:extLst>
              <a:ext uri="{FF2B5EF4-FFF2-40B4-BE49-F238E27FC236}">
                <a16:creationId xmlns:a16="http://schemas.microsoft.com/office/drawing/2014/main" id="{FE628C85-8718-A16B-1A28-AAEDDABBDA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90849053"/>
              </p:ext>
            </p:extLst>
          </p:nvPr>
        </p:nvGraphicFramePr>
        <p:xfrm>
          <a:off x="3759896" y="885459"/>
          <a:ext cx="7728267" cy="50873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527728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386BCDD-9CBB-5639-F1A6-95BC3B969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結論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C14612F-72B3-334B-19AD-67C0BA6FA0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TW" altLang="en-US" dirty="0"/>
              <a:t>本研究透過因果追蹤定位關鍵 </a:t>
            </a:r>
            <a:r>
              <a:rPr lang="en-US" altLang="zh-TW" dirty="0"/>
              <a:t>MLP </a:t>
            </a:r>
            <a:r>
              <a:rPr lang="zh-TW" altLang="en-US" dirty="0"/>
              <a:t>層，並利用</a:t>
            </a:r>
            <a:r>
              <a:rPr lang="en-US" altLang="zh-TW" dirty="0"/>
              <a:t>ROME</a:t>
            </a:r>
            <a:r>
              <a:rPr lang="zh-TW" altLang="en-US" dirty="0"/>
              <a:t>技術編輯模型，使得模型不必消耗大量的成本學習到新知。</a:t>
            </a: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實驗證實，</a:t>
            </a:r>
            <a:r>
              <a:rPr lang="en-US" altLang="zh-TW" dirty="0"/>
              <a:t>ROME </a:t>
            </a:r>
            <a:r>
              <a:rPr lang="zh-TW" altLang="en-US" dirty="0"/>
              <a:t>能實現高成功率的事實修改，同時保持模型的語言能力與非相關知識的完整性。</a:t>
            </a:r>
          </a:p>
        </p:txBody>
      </p:sp>
    </p:spTree>
    <p:extLst>
      <p:ext uri="{BB962C8B-B14F-4D97-AF65-F5344CB8AC3E}">
        <p14:creationId xmlns:p14="http://schemas.microsoft.com/office/powerpoint/2010/main" val="17899464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7">
            <a:extLst>
              <a:ext uri="{FF2B5EF4-FFF2-40B4-BE49-F238E27FC236}">
                <a16:creationId xmlns:a16="http://schemas.microsoft.com/office/drawing/2014/main" id="{C162DF2A-64D1-4AA9-BA42-8A4063EAD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38" name="Rectangle 9">
            <a:extLst>
              <a:ext uri="{FF2B5EF4-FFF2-40B4-BE49-F238E27FC236}">
                <a16:creationId xmlns:a16="http://schemas.microsoft.com/office/drawing/2014/main" id="{5D7C1373-63AF-4A75-909E-990E05356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 useBgFill="1">
        <p:nvSpPr>
          <p:cNvPr id="39" name="Rectangle 11">
            <a:extLst>
              <a:ext uri="{FF2B5EF4-FFF2-40B4-BE49-F238E27FC236}">
                <a16:creationId xmlns:a16="http://schemas.microsoft.com/office/drawing/2014/main" id="{EE72CBEC-7BC8-4019-86DB-1B7604A47A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F9EC4FED-1DDE-2E9F-6757-38E287CBD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1816" y="761998"/>
            <a:ext cx="7814926" cy="533400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zh-TW" altLang="en-US" dirty="0">
                <a:solidFill>
                  <a:schemeClr val="tx1"/>
                </a:solidFill>
              </a:rPr>
              <a:t>感謝各位聆聽！</a:t>
            </a:r>
            <a:endParaRPr lang="en-US" altLang="zh-TW" sz="6600" spc="-100" dirty="0">
              <a:solidFill>
                <a:schemeClr val="tx1"/>
              </a:solidFill>
            </a:endParaRPr>
          </a:p>
        </p:txBody>
      </p:sp>
      <p:sp>
        <p:nvSpPr>
          <p:cNvPr id="40" name="Rectangle 13">
            <a:extLst>
              <a:ext uri="{FF2B5EF4-FFF2-40B4-BE49-F238E27FC236}">
                <a16:creationId xmlns:a16="http://schemas.microsoft.com/office/drawing/2014/main" id="{8B3A7788-AA18-4395-B0A6-3C50CCB60E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3724447" cy="139535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15">
            <a:extLst>
              <a:ext uri="{FF2B5EF4-FFF2-40B4-BE49-F238E27FC236}">
                <a16:creationId xmlns:a16="http://schemas.microsoft.com/office/drawing/2014/main" id="{6848EF24-56BA-4684-8BB7-8280CBCE3B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0323" y="767825"/>
            <a:ext cx="643467" cy="1395357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5C3D107-2A0D-4A60-B10A-7E5349DAF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85999"/>
            <a:ext cx="3731816" cy="381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E42B6A5-A12D-4C68-892C-4844407DAE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0323" y="2285999"/>
            <a:ext cx="645258" cy="3809999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3981773"/>
      </p:ext>
    </p:extLst>
  </p:cSld>
  <p:clrMapOvr>
    <a:masterClrMapping/>
  </p:clrMapOvr>
</p:sld>
</file>

<file path=ppt/theme/theme1.xml><?xml version="1.0" encoding="utf-8"?>
<a:theme xmlns:a="http://schemas.openxmlformats.org/drawingml/2006/main" name="框架">
  <a:themeElements>
    <a:clrScheme name="框架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框架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框架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4657E4807BA7D44A8238B249FBC4E2C5" ma:contentTypeVersion="5" ma:contentTypeDescription="建立新的文件。" ma:contentTypeScope="" ma:versionID="37a0f50809905f74fef8581c4f87f5f0">
  <xsd:schema xmlns:xsd="http://www.w3.org/2001/XMLSchema" xmlns:xs="http://www.w3.org/2001/XMLSchema" xmlns:p="http://schemas.microsoft.com/office/2006/metadata/properties" xmlns:ns3="2b02d42b-f029-4d9f-9c78-80d08d911c72" targetNamespace="http://schemas.microsoft.com/office/2006/metadata/properties" ma:root="true" ma:fieldsID="5843b5f5ab8b4cbbdcd45a49b4ad4f44" ns3:_="">
    <xsd:import namespace="2b02d42b-f029-4d9f-9c78-80d08d911c7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b02d42b-f029-4d9f-9c78-80d08d911c7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C05E26B-ACF8-452F-B347-19AF36953A1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b02d42b-f029-4d9f-9c78-80d08d911c7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763F9BF-AECB-4523-ADAF-0B52801EA4E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10DE8E1-573C-49F8-B743-A5D18196FE15}">
  <ds:schemaRefs>
    <ds:schemaRef ds:uri="http://purl.org/dc/dcmitype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2b02d42b-f029-4d9f-9c78-80d08d911c72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TM03457475[[fn=Frame]]</Template>
  <TotalTime>789</TotalTime>
  <Words>1607</Words>
  <Application>Microsoft Office PowerPoint</Application>
  <PresentationFormat>寬螢幕</PresentationFormat>
  <Paragraphs>135</Paragraphs>
  <Slides>27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27</vt:i4>
      </vt:variant>
    </vt:vector>
  </HeadingPairs>
  <TitlesOfParts>
    <vt:vector size="32" baseType="lpstr">
      <vt:lpstr>Aptos</vt:lpstr>
      <vt:lpstr>Arial</vt:lpstr>
      <vt:lpstr>Corbel</vt:lpstr>
      <vt:lpstr>Wingdings 2</vt:lpstr>
      <vt:lpstr>框架</vt:lpstr>
      <vt:lpstr>使用CMA與ROME了解LLM是如何儲存和修改特定字詞</vt:lpstr>
      <vt:lpstr>參考資料</vt:lpstr>
      <vt:lpstr>研究目的：</vt:lpstr>
      <vt:lpstr>研究方法</vt:lpstr>
      <vt:lpstr>研究方法</vt:lpstr>
      <vt:lpstr>研究方法</vt:lpstr>
      <vt:lpstr>研究方法</vt:lpstr>
      <vt:lpstr>研究方法</vt:lpstr>
      <vt:lpstr>研究方法</vt:lpstr>
      <vt:lpstr>研究方法</vt:lpstr>
      <vt:lpstr>研究方法</vt:lpstr>
      <vt:lpstr>研究方法</vt:lpstr>
      <vt:lpstr>研究方法</vt:lpstr>
      <vt:lpstr>研究方法</vt:lpstr>
      <vt:lpstr>研究方法</vt:lpstr>
      <vt:lpstr>研究方法</vt:lpstr>
      <vt:lpstr>研究方法</vt:lpstr>
      <vt:lpstr>研究方法</vt:lpstr>
      <vt:lpstr>創新與展延</vt:lpstr>
      <vt:lpstr>創新與展延</vt:lpstr>
      <vt:lpstr>創新與展延</vt:lpstr>
      <vt:lpstr>創新與展延</vt:lpstr>
      <vt:lpstr>創新與展延</vt:lpstr>
      <vt:lpstr>創新與展延</vt:lpstr>
      <vt:lpstr>創新與展延</vt:lpstr>
      <vt:lpstr>結論</vt:lpstr>
      <vt:lpstr>感謝各位聆聽！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廖祥恩</dc:creator>
  <cp:lastModifiedBy>廖祥恩</cp:lastModifiedBy>
  <cp:revision>4</cp:revision>
  <dcterms:created xsi:type="dcterms:W3CDTF">2025-12-06T17:28:48Z</dcterms:created>
  <dcterms:modified xsi:type="dcterms:W3CDTF">2025-12-20T08:10:08Z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0x0101004657E4807BA7D44A8238B249FBC4E2C5</vt:lpwstr>
  </property>
</Properties>
</file>